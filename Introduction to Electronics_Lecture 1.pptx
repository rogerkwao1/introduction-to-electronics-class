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9" r:id="rId4"/>
    <p:sldId id="258" r:id="rId5"/>
    <p:sldId id="263" r:id="rId6"/>
    <p:sldId id="296" r:id="rId7"/>
    <p:sldId id="266" r:id="rId8"/>
    <p:sldId id="267" r:id="rId9"/>
    <p:sldId id="297" r:id="rId10"/>
    <p:sldId id="268" r:id="rId11"/>
    <p:sldId id="269" r:id="rId12"/>
    <p:sldId id="270" r:id="rId13"/>
    <p:sldId id="274" r:id="rId14"/>
    <p:sldId id="275" r:id="rId15"/>
    <p:sldId id="276" r:id="rId16"/>
    <p:sldId id="298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99" r:id="rId28"/>
    <p:sldId id="300" r:id="rId29"/>
    <p:sldId id="301" r:id="rId30"/>
    <p:sldId id="302" r:id="rId31"/>
    <p:sldId id="303" r:id="rId32"/>
    <p:sldId id="260" r:id="rId33"/>
    <p:sldId id="261" r:id="rId34"/>
    <p:sldId id="262" r:id="rId35"/>
    <p:sldId id="304" r:id="rId36"/>
    <p:sldId id="264" r:id="rId37"/>
    <p:sldId id="265" r:id="rId38"/>
    <p:sldId id="305" r:id="rId39"/>
    <p:sldId id="308" r:id="rId40"/>
    <p:sldId id="306" r:id="rId41"/>
    <p:sldId id="307" r:id="rId42"/>
    <p:sldId id="291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140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83FB8-E737-6A53-4C5C-26AB07A20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6E846-4559-3921-920E-60D378131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8C459-7C80-8378-5E5A-EFD4A1D2D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1ADB4-4E15-61E3-516E-2F5A1B180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24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26E3-B999-6732-86D2-0E4446E18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1E434-53B3-0D43-CF23-183201A1B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46CB9E-0729-8D97-38BA-E03453D9E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83957-4DE9-2756-11B6-731623C47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59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49C7C-C6F2-87DA-C3BC-5D97164FD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DCED8-1B2D-AC1F-9A88-4A4771BB7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70ECC-319A-8547-E589-50342CE72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AE9E5-1A44-EE4E-52F2-06CF1B257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04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18359-D694-F1DB-CCE8-5E2C57A9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2E8B2-D492-5BBD-6FBF-60A3BA916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B0C3B-9CFD-F5EE-CDEC-68FC04164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2296C-63FD-A193-451F-2121A0715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07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92FC9-6A35-7660-B514-0D434422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0F1F3-6F4B-01E8-29D8-A6AF163AF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4D0F9-2B00-4686-39B3-6DD84BD7E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6E214-4359-A013-E014-D3433C679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324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view/rogerkwao/hom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hanacademy.org/science/electrical-engineering" TargetMode="External"/><Relationship Id="rId7" Type="http://schemas.openxmlformats.org/officeDocument/2006/relationships/hyperlink" Target="https://everycircuit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open.edu/openlearn/science-maths-technology/an-introduction-electronics/content-section-0?active-tab=description-tab" TargetMode="External"/><Relationship Id="rId5" Type="http://schemas.openxmlformats.org/officeDocument/2006/relationships/hyperlink" Target="https://www.allaboutcircuits.com/textbook/" TargetMode="External"/><Relationship Id="rId4" Type="http://schemas.openxmlformats.org/officeDocument/2006/relationships/hyperlink" Target="https://www.tinkercad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: Introduction 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 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Roger Ahiadormey 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Scientist, CSIR-INSTI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interests: Internet-of-Things, Wireless Communications, Tiny Machine Learning 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rogerkwao@gmail.com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</a:t>
            </a: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https://sites.google.com/view/rogerkwao/home</a:t>
            </a:r>
            <a:endParaRPr lang="en-US" sz="2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 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8053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/>
              <a:t>This course equips you to understand, build, measure, and program basic electronic circuits using fundamental components.</a:t>
            </a: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b="1" dirty="0"/>
              <a:t>Reading Materials </a:t>
            </a: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sz="2000" dirty="0"/>
              <a:t>The Art of Electronics (Hardcover) by Paul Horowitz, Winfield Hill (1989): Cambridge University Press: ISBN 978-0-521-37095</a:t>
            </a: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sz="2000" dirty="0"/>
              <a:t>Practical Electronics for Inventors: Paul Scherz: McGraw Hill (2000): ISBN-13: 978-0070580787</a:t>
            </a: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dirty="0"/>
              <a:t>Basic Electronics: Theory and Practice: Sean Westcott &amp; Jean </a:t>
            </a:r>
            <a:r>
              <a:rPr lang="en-US" dirty="0" err="1"/>
              <a:t>Riescher</a:t>
            </a:r>
            <a:r>
              <a:rPr lang="en-US" dirty="0"/>
              <a:t> Westcott: </a:t>
            </a:r>
            <a:r>
              <a:rPr lang="en-US" dirty="0" err="1"/>
              <a:t>Packt</a:t>
            </a:r>
            <a:r>
              <a:rPr lang="en-US" dirty="0"/>
              <a:t> Publishing (2023): ISBN-13: 978-1836643326</a:t>
            </a: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Links 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https://www.khanacademy.org/science/electrical-engineering</a:t>
            </a:r>
            <a:endParaRPr lang="en-US" sz="2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https://www.tinkercad.com/</a:t>
            </a:r>
            <a:endParaRPr lang="en-US" sz="2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https://www.allaboutcircuits.com/textbook/</a:t>
            </a:r>
            <a:endParaRPr lang="en-US" sz="2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hlinkClick r:id="rId6"/>
              </a:rPr>
              <a:t>https://www.open.edu/openlearn/science-maths-technology/an-introduction-electronics/content-section-0?active-tab=description-tab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hlinkClick r:id="rId7"/>
              </a:rPr>
              <a:t>https://everycircuit.com/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800"/>
              </a:spcAft>
              <a:buSzPct val="100000"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Grading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EFC73E-B922-6416-FDA4-6465DB65F2B2}"/>
              </a:ext>
            </a:extLst>
          </p:cNvPr>
          <p:cNvSpPr/>
          <p:nvPr/>
        </p:nvSpPr>
        <p:spPr>
          <a:xfrm>
            <a:off x="548640" y="1280160"/>
            <a:ext cx="8046720" cy="2236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Quiz/</a:t>
            </a:r>
            <a:r>
              <a:rPr lang="en-US" sz="2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Midsem</a:t>
            </a: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D377B-AD3E-FECA-AD3A-667AA2FC4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213D3E-20A0-E360-3B94-E242E7905627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BCC44A-3144-E735-B629-0ED5D194AAD7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Electronics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2535C18-9D54-6078-69A7-AC6E6ACCFF6D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33E380-1E07-C7F6-BD7D-1756A6F55F67}"/>
              </a:ext>
            </a:extLst>
          </p:cNvPr>
          <p:cNvSpPr/>
          <p:nvPr/>
        </p:nvSpPr>
        <p:spPr>
          <a:xfrm>
            <a:off x="548640" y="12801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computer program ultimately runs on physical hardware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IoT, robotics, and embedded systems are growing career fields across Africa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sensors and actuators lets you bridge software and the physical world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hardware-software interactions requires knowing both sides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developers, data engineers, and AI practitioners all benefit from understanding signals and power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20928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Elements of Electronics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can be broken into four stages of learning:</a:t>
            </a:r>
            <a:endParaRPr lang="en-US" sz="2000" dirty="0"/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Theory — Voltage, current, resistance, capacitance, inductance, and the laws that predict circuit behaviour</a:t>
            </a:r>
            <a:endParaRPr lang="en-US" sz="2000" dirty="0"/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Passive Components — Resistors, capacitors, inductors, transformers</a:t>
            </a:r>
            <a:endParaRPr lang="en-US" sz="2000" dirty="0"/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Active Devices — Diodes and transistors</a:t>
            </a:r>
            <a:endParaRPr lang="en-US" sz="2000" dirty="0"/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Complete Circuits — Rectifiers, amplifiers, oscillators, voltage regulators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Passive Circuits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circuits use only resistors, capacitors, and inductors. Common types: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Current-limiting circuits — A resistor in series limits the current flowing to a device (e.g., protecting an LED)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dividers — Two resistors in series split a voltage into a smaller proportion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—  circuits that pass certain frequencies and block others (low-pass, high-pass, band-pass)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Attenuators — Resistor networks that reduce signal amplitude without changing its shape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2EC0E-4C09-1A42-7B2C-F55244D6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9EBC1C-2D27-C306-95A5-D45446A1D7D3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A99480-A95C-52CA-6363-8611EF24956D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Active Devices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855E1B2-7B41-831E-5FD2-6A58654EE363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EA0C66-A99B-9E23-599F-5E0958D56C26}"/>
              </a:ext>
            </a:extLst>
          </p:cNvPr>
          <p:cNvSpPr/>
          <p:nvPr/>
        </p:nvSpPr>
        <p:spPr>
          <a:xfrm>
            <a:off x="548640" y="1280160"/>
            <a:ext cx="8046720" cy="3749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 can amplify signals or act as switches. They are made from semiconductors.</a:t>
            </a:r>
            <a:endParaRPr lang="en-US" sz="2000" dirty="0"/>
          </a:p>
          <a:p>
            <a:pPr>
              <a:lnSpc>
                <a:spcPct val="120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Diodes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current to flow in one direction only. Used for rectification (AC  to DC convertors), and voltage regulation.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Three-terminal devices that act as electronic switches or amplifiers. A small input signal controls a larger output. Types include BJT and MOSFET. Billions of transistors make up every microprocessor.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1779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Transducers (Input and Output devices)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749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/>
              <a:t>Transducers convert a signal in one form of energy to a signal in another</a:t>
            </a: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is a quantity that varies over time and carries information.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/>
              <a:t>Input devices (sensors) convert physical signals, such as sound, light, and pressure, into electrical signals that circuits can use </a:t>
            </a: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sz="2000" dirty="0"/>
              <a:t>Output devices convert electrical signals into physical signals </a:t>
            </a: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sz="2000" dirty="0"/>
              <a:t>These I/O devices allow humans and circuits to communicate with one another. </a:t>
            </a: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Devices — Sensors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591273"/>
              </p:ext>
            </p:extLst>
          </p:nvPr>
        </p:nvGraphicFramePr>
        <p:xfrm>
          <a:off x="457200" y="1234440"/>
          <a:ext cx="8229600" cy="1752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Microphone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 → Voltage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recording, voice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Phototransistor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→ 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sensing, optical communication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/ Button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→ On/Off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input, limit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Thermistor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→ Resistance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Antenna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waves → Voltage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Radio, </a:t>
                      </a:r>
                      <a:r>
                        <a:rPr lang="en-US" sz="1300" b="1" dirty="0" err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</a:t>
                      </a: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Bluetooth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Devices — Actuators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776752"/>
              </p:ext>
            </p:extLst>
          </p:nvPr>
        </p:nvGraphicFramePr>
        <p:xfrm>
          <a:off x="457200" y="1234440"/>
          <a:ext cx="8229600" cy="2331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/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→ Light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Indicators, displays, lighting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/ OLED Display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→ Pixels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Screens, readouts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→ Sound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output, alarms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→ Rotation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Fans, wheels, pumps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Motor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signal → Angle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Stepper Motor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Pulses → Precise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printers, CNC machines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Solenoid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→ Linear push/pull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locks, valves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of Charge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— Definition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is the rate at which electric charge flows past a point in a circuit.</a:t>
            </a:r>
            <a:endParaRPr lang="en-US" sz="2000" dirty="0"/>
          </a:p>
          <a:p>
            <a:pPr algn="just">
              <a:lnSpc>
                <a:spcPct val="120000"/>
              </a:lnSpc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ΔQ / </a:t>
            </a: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</a:p>
          <a:p>
            <a:pPr algn="ctr">
              <a:lnSpc>
                <a:spcPct val="120000"/>
              </a:lnSpc>
              <a:spcBef>
                <a:spcPts val="1400"/>
              </a:spcBef>
              <a:spcAft>
                <a:spcPts val="600"/>
              </a:spcAft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= current (amperes),  ΔQ = charge (coulombs),  </a:t>
            </a:r>
            <a:r>
              <a:rPr lang="en-US" sz="16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</a:t>
            </a: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time (seconds)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ampere = one coulomb of charge per second (1 A = 1 C/s )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/>
              <a:t>In a copper conductor, electrons move through the metal lattice when a voltage is applied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2C3218-D1DC-A3E3-A81B-4C66B65630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13"/>
          <a:stretch/>
        </p:blipFill>
        <p:spPr>
          <a:xfrm>
            <a:off x="1769002" y="2090135"/>
            <a:ext cx="3022453" cy="963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Charge &amp; Count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electron carries a charge of:</a:t>
            </a:r>
            <a:endParaRPr lang="en-US" sz="2000" dirty="0"/>
          </a:p>
          <a:p>
            <a:pPr algn="ctr">
              <a:lnSpc>
                <a:spcPct val="120000"/>
              </a:lnSpc>
              <a:spcBef>
                <a:spcPts val="800"/>
              </a:spcBef>
              <a:spcAft>
                <a:spcPts val="1200"/>
              </a:spcAft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1.602 × 10⁻¹⁹ coulombs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one coulomb requires about 6.24 × 10¹⁸ electrons.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current of 1 A, roughly 6.24 billion billion electrons pass a point every second.</a:t>
            </a:r>
            <a:endParaRPr lang="en-US" sz="2000" dirty="0"/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tiny current of 1 mA involves about 6.24 × 10¹⁵ electrons per second — the numbers are immense at the atomic scale.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6A3FA-CBA7-4E94-C56D-C1E47CDC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3E2E41-6577-BC6D-6389-399AE52D5CE7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08E542-7919-9A69-7FBA-871DC7324F24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3200" b="1" dirty="0"/>
              <a:t>Calculating Electron Flow Through a Conductor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80BAE51-5E9E-DE7F-4C54-C1B7EADD44E8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C5C5E8-8610-98F4-92F9-6A25A8DFA506}"/>
              </a:ext>
            </a:extLst>
          </p:cNvPr>
          <p:cNvSpPr/>
          <p:nvPr/>
        </p:nvSpPr>
        <p:spPr>
          <a:xfrm>
            <a:off x="548640" y="128016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040899-B5D2-C580-9C36-2985EFCEA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80" y="1280159"/>
            <a:ext cx="6026428" cy="2072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897CAF-0695-31E1-BB4B-92670E653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007" y="3275454"/>
            <a:ext cx="5498593" cy="193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30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vs. Electron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Bef>
                <a:spcPts val="1000"/>
              </a:spcBef>
              <a:spcAft>
                <a:spcPts val="400"/>
              </a:spcAft>
            </a:pPr>
            <a:endParaRPr lang="en-US" sz="2200" b="1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spcAft>
                <a:spcPts val="400"/>
              </a:spcAft>
            </a:pPr>
            <a:endParaRPr lang="en-US" sz="2200" b="1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spcAft>
                <a:spcPts val="400"/>
              </a:spcAft>
            </a:pPr>
            <a:endParaRPr lang="en-US" sz="2200" b="1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current (used in circuit </a:t>
            </a:r>
            <a:r>
              <a:rPr lang="en-US" sz="22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analySsis</a:t>
            </a: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standard used in textbooks, schematics, and engineering.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flow (physical reality)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actually move from − terminal to + terminal. This was discovered after the convention was already established.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E13185-2781-EF5E-AC6E-2D3CD1FA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519" y="1116330"/>
            <a:ext cx="512445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Prefixes for Current &amp; Voltage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910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= household appliance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mA = typical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µA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µA = sleep-mode MCU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nA = op-amp input bias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Kilovolt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kV = power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Millivolt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mV = ECG 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Microvolt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µV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µV = EEG brain 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Kilo-ohm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kΩ = common resistor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Mega-ohm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MΩ = multimeter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Currents in Perspective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366737"/>
              </p:ext>
            </p:extLst>
          </p:nvPr>
        </p:nvGraphicFramePr>
        <p:xfrm>
          <a:off x="457200" y="1234440"/>
          <a:ext cx="8229600" cy="339852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Current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Microchip standby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pA to µA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watch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µA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(idle)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indicator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100–500 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charger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kettle (230 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~8–10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starter motor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100–400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Lightning bolt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~1,000–30,000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DANGER ZONE: 100 mA–1 A through the heart can cause cardiac arrest</a:t>
                      </a:r>
                      <a:endParaRPr lang="en-US" sz="13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respect electricity!</a:t>
                      </a:r>
                      <a:endParaRPr lang="en-US" sz="13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</a:t>
            </a:r>
            <a:r>
              <a:rPr lang="en-US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That Drives Current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— Definition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(also called electromotive force (EMF) or potential difference) is the energy per unit charge that drives current through a circuit.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is always measured between two points — it is a relative quantity, not an absolute one.</a:t>
            </a:r>
            <a:endParaRPr lang="en-US" sz="2000" dirty="0"/>
          </a:p>
          <a:p>
            <a:pPr>
              <a:lnSpc>
                <a:spcPct val="120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voltages: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battery: 1.5 V  |  USB: 5 V  |  Car battery: 12 V  |  Wall outlet (Ghana): 230 V AC  |  Lightning: ~300 MV</a:t>
            </a:r>
            <a:endParaRPr lang="en-US" sz="20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 with no circuit connected still has voltage across its terminals — it’s the potential to push charge, even if no current is flowing yet.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Flashlight Circuit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800"/>
              </a:spcAft>
              <a:buSzPct val="100000"/>
            </a:pPr>
            <a:endParaRPr lang="en-US" sz="2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endParaRPr lang="en-US" sz="2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endParaRPr lang="en-US" sz="1700" i="1" dirty="0">
              <a:solidFill>
                <a:srgbClr val="66666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endParaRPr lang="en-US" sz="1700" i="1" dirty="0">
              <a:solidFill>
                <a:srgbClr val="66666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endParaRPr lang="en-US" sz="1700" i="1" dirty="0">
              <a:solidFill>
                <a:srgbClr val="66666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1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simple circuit illustrates all three quantities: voltage (battery), current (flow through loop), and power (consumed by lamp).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F214A-6109-47E1-6EA2-C3F788A2E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80161"/>
            <a:ext cx="6839712" cy="25831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 of the Volt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volt can be defined from two perspectives:</a:t>
            </a:r>
            <a:endParaRPr lang="en-US" sz="2000" dirty="0"/>
          </a:p>
          <a:p>
            <a:pPr>
              <a:lnSpc>
                <a:spcPct val="120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definition: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2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U / q → 1 Volt = 1 Joule/1 coulomb (1V = 1J/1C)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sz="1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volt means one joule of energy is transferred per coulomb of charge.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definition: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2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V × I → 1 Volt = 1 Watt / 1 Ampere (1V = 1W/1A)</a:t>
            </a:r>
            <a:endParaRPr lang="en-US" sz="20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volt is the potential difference that produces one watt of power per ampere of current.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Generalized Power Law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749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fundamental power equation in electronics:</a:t>
            </a:r>
            <a:endParaRPr lang="en-US" sz="2000" dirty="0"/>
          </a:p>
          <a:p>
            <a:pPr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V × I   </a:t>
            </a: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 = power (watts), V = voltage (volts), I = current (amperes)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for ANY device — resistors, motors, LEDs, speakers, transistors, anything.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from conservation of energy: the power delivered to a device equals the voltage across it times the current through it.</a:t>
            </a:r>
            <a:endParaRPr lang="en-US" sz="2000" dirty="0"/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watt = 1 volt × 1 ampere = 1 joule per second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 = VI Does &amp; Doesn’t Tell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138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you: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power consumed by any device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measurements of voltage and current using just a voltmeter and ammeter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component — no need to know what’s inside</a:t>
            </a:r>
            <a:endParaRPr lang="en-US" sz="220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doesn’t tell you: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power is used?  (light, heat)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efficiency of the device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happening internally 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7E65A1-2182-6F16-50B4-EBFF92463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886457"/>
            <a:ext cx="4267200" cy="19827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3200" b="1" dirty="0"/>
              <a:t>The Blackbox Thought Experiment 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749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two-lead black box — an unknown circuit that may contain all sorts of devices, such as resistors, lamps, motors, or transistors.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we can do is measure the current entering the black box and the voltage across it (using an ammeter and voltmeter), we can apply the generalized power law: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 V = 10 V,  I = 0.1 A</a:t>
            </a:r>
            <a:endParaRPr lang="en-US" sz="1800" b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V × I = 10 × 0.1 = 1 W total consumed power</a:t>
            </a:r>
            <a:endParaRPr lang="en-US" sz="1800" b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much power is pumped into the black box is incredibly useful — it allows for quick power consumption measurements and often simplifies circuit analysis.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8BB5C-32F2-DE5E-3A55-4A6B5404F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837530-3379-8F12-A01D-ACD3ED9057E6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128431-BC63-700B-5776-3450C3DC7053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3200" b="1" dirty="0"/>
              <a:t>Calculating Current and Power in Circuits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DE6A865-CEAA-F397-8C7F-FAD73F496D5F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88DCAF-5284-723F-F126-FB0045EB0747}"/>
              </a:ext>
            </a:extLst>
          </p:cNvPr>
          <p:cNvSpPr/>
          <p:nvPr/>
        </p:nvSpPr>
        <p:spPr>
          <a:xfrm>
            <a:off x="548640" y="12801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CC3BC-E3E3-F759-FD6C-7A6969EB0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1830"/>
            <a:ext cx="7811426" cy="18914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FB32D0-F3D9-94EB-627C-57A3AE9D9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29012"/>
            <a:ext cx="8046720" cy="164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94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Resistance, Resistivity &amp; Ohm's Law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to Electron 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— Definition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Resistance?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electrons in a conductor collide with lattice ions, impurities, and other electrons, which limits their motion. These microscopic impediments to electron flow are what we collectively call 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resistance.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Ohm’s Discovery (1826)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Simon Ohm found a 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applied voltage and resultant current through a material. He defined resistance as: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0" y="3017520"/>
            <a:ext cx="4023360" cy="731520"/>
          </a:xfrm>
          <a:prstGeom prst="rect">
            <a:avLst/>
          </a:prstGeom>
          <a:solidFill>
            <a:srgbClr val="EEF2F8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0" y="30175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V / 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 = resistance (ohms, Ω),  V = voltage (volts),  I = current (amperes)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Ohm's Law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Ohm (Ω)</a:t>
            </a:r>
            <a:endParaRPr lang="en-US" sz="1500" b="1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ohm is the resistance through which a current of 1 A flows when a voltage of 1 V is applied: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Ω = 1 V / 1 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Limitation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Ohm’s law is 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universal law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is an empirical statement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certain materials.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applies only to 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ohmic materials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whose resistance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constant over a range of applied voltages.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Non-ohmic materials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follow Ohm’s law. For example,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diode allows current to flow easily in one direction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blocks it in the reverse direction — its resistance changes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voltage.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289866-7981-2EA6-7719-DEA8C43E1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131" y="1813326"/>
            <a:ext cx="2988349" cy="264261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Conductor Shape Affects Resistance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(L)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the length doubles resistance. </a:t>
            </a:r>
          </a:p>
          <a:p>
            <a:pPr marL="342900" lvl="1">
              <a:spcAft>
                <a:spcPts val="300"/>
              </a:spcAft>
              <a:buSzPct val="100000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lattice ions and imperfections along the path </a:t>
            </a:r>
          </a:p>
          <a:p>
            <a:pPr marL="342900" lvl="1">
              <a:spcAft>
                <a:spcPts val="300"/>
              </a:spcAft>
              <a:buSzPct val="100000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more electron collisions.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Area (A)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the area halves resistance. A wider conductor </a:t>
            </a:r>
          </a:p>
          <a:p>
            <a:pPr marL="342900" lvl="1">
              <a:spcAft>
                <a:spcPts val="300"/>
              </a:spcAft>
              <a:buSzPct val="100000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current over a greater volume, reducing electron</a:t>
            </a:r>
          </a:p>
          <a:p>
            <a:pPr marL="342900" lvl="1">
              <a:spcAft>
                <a:spcPts val="300"/>
              </a:spcAft>
              <a:buSzPct val="100000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collisions and current density.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Density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density J = I / A describes the rate of current flow </a:t>
            </a:r>
          </a:p>
          <a:p>
            <a:pPr marL="342900" lvl="1">
              <a:spcAft>
                <a:spcPts val="300"/>
              </a:spcAft>
              <a:buSzPct val="100000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unit area. A thin wire has higher current density </a:t>
            </a:r>
          </a:p>
          <a:p>
            <a:pPr marL="342900" lvl="1">
              <a:spcAft>
                <a:spcPts val="300"/>
              </a:spcAft>
              <a:buSzPct val="100000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a thick wire carrying the same current, causing more collisions and greater resistance.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A33650-8044-73F7-E548-EBCEC7256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772" y="1706586"/>
            <a:ext cx="3038622" cy="243898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Resistivity (ρ)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shape — the material itself matters.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Resistivity ρ is a material property that is 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the physical dimensions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conductor. It tells us how strongly a material opposes current flow regardless of its size or shape.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0246" y="2834640"/>
            <a:ext cx="4572000" cy="685800"/>
          </a:xfrm>
          <a:prstGeom prst="rect">
            <a:avLst/>
          </a:prstGeom>
          <a:solidFill>
            <a:srgbClr val="EEF2F8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0246" y="2834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R × A / 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-1153551" y="37261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= cross-sectional area, L = length, R = resistance of the sample.  </a:t>
            </a:r>
          </a:p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ohm-metres (Ωm)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examples: Copper ≈ 1.7 × 10⁻⁸ Ωm  |  Rubber ≈ 10¹³ Ωm  |  Silicon ≈ 10⁻³ to 10³ Ωm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5E6552-F4A2-2142-097B-FDC2C0939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07" y="2110153"/>
            <a:ext cx="3208285" cy="234227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 (σ)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"Optimist’s" View of Resistance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 σ is simply the mathematical inverse of resistivity. Instead of measuring how badly a material conducts, it measures how 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conducts: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657600" cy="685800"/>
          </a:xfrm>
          <a:prstGeom prst="rect">
            <a:avLst/>
          </a:prstGeom>
          <a:solidFill>
            <a:srgbClr val="EEF2F8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 / 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54880" y="2286000"/>
            <a:ext cx="3657600" cy="685800"/>
          </a:xfrm>
          <a:prstGeom prst="rect">
            <a:avLst/>
          </a:prstGeom>
          <a:solidFill>
            <a:srgbClr val="EEF2F8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siemens, S = (Ωm)⁻¹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Ohm’s Law in terms of resistivity and conductivity: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σE   (where J = current density, E = electric field)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resistivity and conductivity encode the same physical information. Copper (σ ≈ 6 × 10⁷ S/m) is an excellent conductor. Rubber (σ ≈10⁻¹³ S/m) is an excellent insulator.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Insulators, Conductors &amp; Semiconductors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005840"/>
          <a:ext cx="8229600" cy="263347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Resistivity (Ωm)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≈10⁻⁸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Copper, Gold, Aluminium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Wires, PCB traces, contacts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Semiconductors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10⁻⁵ to 10³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Silicon, Germanium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Transistors, diodes, 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≈10¹² to 10¹⁶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Rubber, Glass, Ceramic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coatings, circuit boards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resistivity varies strongly with temperature and doping — the foundation of modern transistor and IC design.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&amp; Power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Electrical Energy Go?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Ohmic (Joule) Heating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Generalized Power Law: P = V × 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us the 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power consumed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any device. It does </a:t>
            </a:r>
            <a:r>
              <a:rPr lang="en-US" sz="1500" b="1" u="sng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 us how that power is used.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Joule Heating — Only for Pure Resistors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device is a pure resistor (100% ohmic), substituting Ohm’s law into P = VI gives: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3063240"/>
            <a:ext cx="3200400" cy="685800"/>
          </a:xfrm>
          <a:prstGeom prst="rect">
            <a:avLst/>
          </a:prstGeom>
          <a:solidFill>
            <a:srgbClr val="EEF2F8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I²R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0" y="3063240"/>
            <a:ext cx="3200400" cy="685800"/>
          </a:xfrm>
          <a:prstGeom prst="rect">
            <a:avLst/>
          </a:prstGeom>
          <a:solidFill>
            <a:srgbClr val="EEF2F8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3063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V² / 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Ohmic heating, Joule heating, or I²R loss. This power is entirely converted into heat.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 Thought Experiment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two-lead "black box" containing an unknown circuit — resistors, lamps, motors, transistors, anything.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measure: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across the box (voltmeter) and current entering it (ammeter)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consumed: P = V × I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10 V,  I = 0.1 A   ➜   P = 10 × 0.1 = 1 W total consumed power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cannot determine from the outside: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that 1 W is distributed between useful work and waste heat. For that, we must know what is inside.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Black Box — Where Does Power Go?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1 W of power could be used in many different ways depending on what's inside: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converts power into magnetic fields → rotation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converts power into magnetic fields → sound waves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converts power into photons → light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converts ALL power into heat (Joule heating)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cell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converts power into stored chemical energy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loses power to hysteresis and eddy currents in the 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5674" y="35433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VI tells you total power. Only opening the box tells you what it’s doing with that power.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F8BDF-D4A2-6B31-41C5-99FDC04A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94624C-B2F9-5785-C819-7230B1BDB860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Black Box — Where Does Power Go?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67A612-E59F-1BBB-3F1F-175A559B31A4}"/>
              </a:ext>
            </a:extLst>
          </p:cNvPr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F4168D-68E7-021E-D4B2-654EB2405BD0}"/>
              </a:ext>
            </a:extLst>
          </p:cNvPr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ECDECA-1CBB-8169-5983-402A28536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8" y="1006348"/>
            <a:ext cx="7796784" cy="356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568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 Analysis Trap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Mistake: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315200" cy="1188720"/>
          </a:xfrm>
          <a:prstGeom prst="rect">
            <a:avLst/>
          </a:prstGeom>
          <a:solidFill>
            <a:srgbClr val="FFF0F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WRONG: Measuring V = 10 V, I = 0.1 A on a black box, then calculating: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V/I = 10/0.1 = 100 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└→ P = I²R = (0.01)(100) = 1 W "of heat"   ← INCORRECT ASSUMPTION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wrong: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"100 Ω" is an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resistance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describes the V/I ratio, not a physical resistor inside the box. If the box contains a motor, most power becomes rotation, not heat.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I²R and P = V²/R give heat dissipation </a:t>
            </a:r>
            <a:r>
              <a:rPr lang="en-US" sz="1400" b="1" u="sng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actual (pure) resistors. For any other device, use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VI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total power.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Key Formulas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74320" y="1005840"/>
          <a:ext cx="8595360" cy="3401568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Ohm (Ω)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V/I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Opposition to 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= RA/L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property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(Ωm)⁻¹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1/ρ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Inverse of resistivity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(general)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Watt (W)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Joule Heating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Watt (W)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I²R = V²/R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Resistors only!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9552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Key Quantities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 (V)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IR, V = P/I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per unit charge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Ampere (A)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= ΔQ/Δt, I = V/R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flow per second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Ohm (Ω)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V/I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Opposition to 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Watt (W)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per second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2956</Words>
  <Application>Microsoft Office PowerPoint</Application>
  <PresentationFormat>On-screen Show (16:9)</PresentationFormat>
  <Paragraphs>501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Roger Kwao Ahiadorme</cp:lastModifiedBy>
  <cp:revision>14</cp:revision>
  <dcterms:created xsi:type="dcterms:W3CDTF">2026-02-19T09:47:17Z</dcterms:created>
  <dcterms:modified xsi:type="dcterms:W3CDTF">2026-02-20T00:43:56Z</dcterms:modified>
</cp:coreProperties>
</file>