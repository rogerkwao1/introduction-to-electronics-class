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51" r:id="rId2"/>
  </p:sldMasterIdLst>
  <p:notesMasterIdLst>
    <p:notesMasterId r:id="rId53"/>
  </p:notesMasterIdLst>
  <p:sldIdLst>
    <p:sldId id="256" r:id="rId3"/>
    <p:sldId id="257" r:id="rId4"/>
    <p:sldId id="258" r:id="rId5"/>
    <p:sldId id="259" r:id="rId6"/>
    <p:sldId id="260" r:id="rId7"/>
    <p:sldId id="325" r:id="rId8"/>
    <p:sldId id="261" r:id="rId9"/>
    <p:sldId id="262" r:id="rId10"/>
    <p:sldId id="268" r:id="rId11"/>
    <p:sldId id="269" r:id="rId12"/>
    <p:sldId id="326" r:id="rId13"/>
    <p:sldId id="270" r:id="rId14"/>
    <p:sldId id="272" r:id="rId15"/>
    <p:sldId id="275" r:id="rId16"/>
    <p:sldId id="274" r:id="rId17"/>
    <p:sldId id="277" r:id="rId18"/>
    <p:sldId id="278" r:id="rId19"/>
    <p:sldId id="281" r:id="rId20"/>
    <p:sldId id="282" r:id="rId21"/>
    <p:sldId id="284" r:id="rId22"/>
    <p:sldId id="327" r:id="rId23"/>
    <p:sldId id="283" r:id="rId24"/>
    <p:sldId id="273" r:id="rId25"/>
    <p:sldId id="328" r:id="rId26"/>
    <p:sldId id="285" r:id="rId27"/>
    <p:sldId id="288" r:id="rId28"/>
    <p:sldId id="329" r:id="rId29"/>
    <p:sldId id="289" r:id="rId30"/>
    <p:sldId id="290" r:id="rId31"/>
    <p:sldId id="293" r:id="rId32"/>
    <p:sldId id="294" r:id="rId33"/>
    <p:sldId id="295" r:id="rId34"/>
    <p:sldId id="296" r:id="rId35"/>
    <p:sldId id="297" r:id="rId36"/>
    <p:sldId id="298" r:id="rId37"/>
    <p:sldId id="299" r:id="rId38"/>
    <p:sldId id="300" r:id="rId39"/>
    <p:sldId id="301" r:id="rId40"/>
    <p:sldId id="330" r:id="rId41"/>
    <p:sldId id="302" r:id="rId42"/>
    <p:sldId id="303" r:id="rId43"/>
    <p:sldId id="308" r:id="rId44"/>
    <p:sldId id="309" r:id="rId45"/>
    <p:sldId id="310" r:id="rId46"/>
    <p:sldId id="331" r:id="rId47"/>
    <p:sldId id="311" r:id="rId48"/>
    <p:sldId id="312" r:id="rId49"/>
    <p:sldId id="313" r:id="rId50"/>
    <p:sldId id="314" r:id="rId51"/>
    <p:sldId id="340" r:id="rId5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34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viewProps" Target="view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theme" Target="theme/theme1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tableStyles" Target="tableStyles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829454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81C3A6-DDF2-A9FF-0644-F02CA9FB1D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00F801-F1FB-3C20-0D54-EEA5405C25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C3E36B-9C14-346C-2718-C3E1ACAF52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89B10C-E694-7495-E693-65D0C7F05EC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056893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12F871-BD95-389F-B994-3860C3AAD2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64C0D1-6AA3-9663-2287-B780418C5C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5A556E-FC6A-03CF-8DBB-CF3BB22AED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E21F65-5395-5A26-7906-8BA5D0E3B9A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00888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6665C9-24C2-CF70-FE75-1DDB66B9B2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77224B-431F-0774-C728-0B7B3BD86C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FFFB62-0A70-241C-C511-75640AFCE9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A2C938-044A-B51D-929E-38EE4A34553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473967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DAB398-89A7-8E4A-0B9D-711B700ED5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78FBE5-B10D-8335-2AEC-47A10D2218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CBEC23-755A-3571-605E-A74FA6EF87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685EA4-12EE-D2B7-9221-BEB41205ABA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7127659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F5F760-520B-F218-B100-1F6B0D4954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BB93C8-574F-0AD0-12A3-3CD5D13584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08AA916-4028-557C-57AC-7595774CC7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7ADB3A-78C6-B4CE-FF6F-BB0790573E0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948301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AE13F-21D3-4362-9488-0ECE11B24E15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89B06-76AB-42C2-BE4B-33552D0371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18194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AE13F-21D3-4362-9488-0ECE11B24E15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89B06-76AB-42C2-BE4B-33552D0371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84528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AE13F-21D3-4362-9488-0ECE11B24E15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89B06-76AB-42C2-BE4B-33552D0371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01468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AE13F-21D3-4362-9488-0ECE11B24E15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89B06-76AB-42C2-BE4B-33552D0371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16933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AE13F-21D3-4362-9488-0ECE11B24E15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89B06-76AB-42C2-BE4B-33552D0371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12714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AE13F-21D3-4362-9488-0ECE11B24E15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89B06-76AB-42C2-BE4B-33552D0371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61880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AE13F-21D3-4362-9488-0ECE11B24E15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89B06-76AB-42C2-BE4B-33552D0371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16877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AE13F-21D3-4362-9488-0ECE11B24E15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89B06-76AB-42C2-BE4B-33552D0371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55398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AE13F-21D3-4362-9488-0ECE11B24E15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89B06-76AB-42C2-BE4B-33552D0371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75735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AE13F-21D3-4362-9488-0ECE11B24E15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89B06-76AB-42C2-BE4B-33552D0371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14042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AE13F-21D3-4362-9488-0ECE11B24E15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89B06-76AB-42C2-BE4B-33552D0371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67540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AE13F-21D3-4362-9488-0ECE11B24E15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89B06-76AB-42C2-BE4B-33552D0371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84357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0" Type="http://schemas.openxmlformats.org/officeDocument/2006/relationships/slideLayout" Target="../slideLayouts/slideLayout12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CAE13F-21D3-4362-9488-0ECE11B24E15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989B06-76AB-42C2-BE4B-33552D0371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83271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jpg"/><Relationship Id="rId4" Type="http://schemas.openxmlformats.org/officeDocument/2006/relationships/image" Target="../media/image6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1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6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</a:t>
            </a:r>
            <a:endParaRPr lang="en-US" sz="4400" dirty="0"/>
          </a:p>
          <a:p>
            <a:pPr marL="0" indent="0" algn="ctr">
              <a:buNone/>
            </a:pPr>
            <a:r>
              <a:rPr lang="en-US" sz="4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34747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2 : Electrical Circuits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8046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6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Distinguish series and parallel resistor connections</a:t>
            </a:r>
            <a:endParaRPr lang="en-US" sz="2000" dirty="0"/>
          </a:p>
          <a:p>
            <a:pPr marL="342900" indent="-342900">
              <a:lnSpc>
                <a:spcPts val="26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Kirchhoff's Voltage and Current Laws (KVL, KCL)</a:t>
            </a:r>
            <a:endParaRPr lang="en-US" sz="2000" dirty="0"/>
          </a:p>
          <a:p>
            <a:pPr marL="342900" indent="-342900">
              <a:lnSpc>
                <a:spcPts val="26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 and apply the voltage divider and current divider</a:t>
            </a:r>
            <a:endParaRPr lang="en-US" sz="2000" dirty="0"/>
          </a:p>
          <a:p>
            <a:pPr marL="342900" indent="-342900">
              <a:lnSpc>
                <a:spcPts val="26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measurement instruments and their limitations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 Circuits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32004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circuits are</a:t>
            </a:r>
            <a:r>
              <a:rPr lang="en-US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the quantities that describe them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an Electric Circuit?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45720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400"/>
              </a:lnSpc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path for current to flow: source + components + wires</a:t>
            </a:r>
            <a:endParaRPr lang="en-US" sz="1800" dirty="0"/>
          </a:p>
          <a:p>
            <a:pPr marL="342900" indent="-342900">
              <a:lnSpc>
                <a:spcPts val="2400"/>
              </a:lnSpc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basic circuit: battery drives current through a lightbulb</a:t>
            </a:r>
            <a:endParaRPr lang="en-US" sz="1800" dirty="0"/>
          </a:p>
          <a:p>
            <a:pPr marL="342900" indent="-342900">
              <a:lnSpc>
                <a:spcPts val="2400"/>
              </a:lnSpc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flows from + terminal, through the load, back to −</a:t>
            </a:r>
            <a:endParaRPr lang="en-US" sz="1800" dirty="0"/>
          </a:p>
          <a:p>
            <a:pPr marL="342900" indent="-342900">
              <a:lnSpc>
                <a:spcPts val="2400"/>
              </a:lnSpc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electronic device is built from circuits</a:t>
            </a:r>
            <a:endParaRPr lang="en-US" sz="18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9B57B87-912C-7571-DD8E-B69761E96C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4862" y="1636294"/>
            <a:ext cx="3840480" cy="214583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 Circuits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/home/claude/orig_images/slide3_Picture_4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37026" y="1378634"/>
            <a:ext cx="7012745" cy="29260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37B4BC0-0CB3-55A5-9DD6-3A0FEEF89A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364A499-5039-B319-5501-D78F419F3E1C}"/>
              </a:ext>
            </a:extLst>
          </p:cNvPr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7B0AE82-A60A-E6B3-0AF8-5FE9CD16F271}"/>
              </a:ext>
            </a:extLst>
          </p:cNvPr>
          <p:cNvSpPr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Circuits</a:t>
            </a:r>
            <a:endParaRPr lang="en-US" sz="28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4A459FA1-51A1-593C-88E7-4E65FF939F23}"/>
              </a:ext>
            </a:extLst>
          </p:cNvPr>
          <p:cNvSpPr/>
          <p:nvPr/>
        </p:nvSpPr>
        <p:spPr>
          <a:xfrm>
            <a:off x="457200" y="1097280"/>
            <a:ext cx="822960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1" descr="/home/claude/orig_images/slide4_Picture_3.png">
            <a:extLst>
              <a:ext uri="{FF2B5EF4-FFF2-40B4-BE49-F238E27FC236}">
                <a16:creationId xmlns:a16="http://schemas.microsoft.com/office/drawing/2014/main" id="{3D3EAFC0-20E2-27F8-EEEE-262D45D15B9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65163" y="1325879"/>
            <a:ext cx="7631723" cy="320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07411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Combination of Series and Parallel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/home/claude/orig_images/slide4_Picture_4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49569" y="1330276"/>
            <a:ext cx="7040879" cy="248294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 Analysis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260908"/>
            <a:ext cx="8046720" cy="37682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6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we predict what the voltages and currents will be in a circuit?</a:t>
            </a:r>
            <a:endParaRPr lang="en-US" sz="2000" dirty="0"/>
          </a:p>
          <a:p>
            <a:pPr marL="342900" indent="-342900">
              <a:lnSpc>
                <a:spcPts val="26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this lecture, we will learn:</a:t>
            </a:r>
            <a:endParaRPr lang="en-US" sz="2000" dirty="0"/>
          </a:p>
          <a:p>
            <a:pPr marL="342900" indent="-342900">
              <a:lnSpc>
                <a:spcPts val="26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Ohm's Law — relates voltage, current, and resistance</a:t>
            </a:r>
            <a:endParaRPr lang="en-US" sz="2000" dirty="0"/>
          </a:p>
          <a:p>
            <a:pPr marL="342900" indent="-342900">
              <a:lnSpc>
                <a:spcPts val="26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Kirchhoff's Current Law (KCL) — governs current at junctions (parallel circuits)</a:t>
            </a:r>
            <a:endParaRPr lang="en-US" sz="2000" dirty="0"/>
          </a:p>
          <a:p>
            <a:pPr marL="342900" indent="-342900">
              <a:lnSpc>
                <a:spcPts val="26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Kirchhoff's Voltage Law (KVL) — governs voltage around loops (series circuits)</a:t>
            </a:r>
            <a:endParaRPr lang="en-US" sz="2000" dirty="0"/>
          </a:p>
          <a:p>
            <a:pPr marL="342900" indent="-342900">
              <a:lnSpc>
                <a:spcPts val="26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Voltage divider and current divider — shortcuts for common patterns</a:t>
            </a:r>
            <a:endParaRPr lang="en-US" sz="2000" dirty="0"/>
          </a:p>
          <a:p>
            <a:pPr marL="342900" indent="-342900">
              <a:lnSpc>
                <a:spcPts val="26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tools let us fully analyse any series, parallel, or combination circuit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Ohm's Law and Resistors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32004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fundamental relationship in circuit analysis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resistor?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280159"/>
            <a:ext cx="4172989" cy="104193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400"/>
              </a:lnSpc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Resistors oppose current</a:t>
            </a:r>
            <a:r>
              <a:rPr lang="en-US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or set voltage levels within circuits. </a:t>
            </a:r>
          </a:p>
          <a:p>
            <a:pPr marL="342900" indent="-342900">
              <a:lnSpc>
                <a:spcPts val="2400"/>
              </a:lnSpc>
              <a:spcAft>
                <a:spcPts val="600"/>
              </a:spcAft>
              <a:buSzPct val="100000"/>
              <a:buChar char="•"/>
            </a:pPr>
            <a:r>
              <a:rPr lang="en-US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onvert electrical energy to heat</a:t>
            </a:r>
            <a:endParaRPr lang="en-US" sz="18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F8C546C-C7E9-306E-56ED-0F36F72665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2652" y="2331772"/>
            <a:ext cx="1904964" cy="256026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01948F6-A372-D195-2BF8-EEDBB90A15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8761" y="1097280"/>
            <a:ext cx="1688004" cy="193061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B14B7D6-084A-377C-3AD2-6700D04A44A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6815" y="2778529"/>
            <a:ext cx="3441469" cy="197635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EA1A86-3E34-A919-AC05-D53564F0BA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4663571-3A0B-0185-4479-7C0391742161}"/>
              </a:ext>
            </a:extLst>
          </p:cNvPr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7CBE7C6-8706-11FE-A2FC-EF95E8E683D5}"/>
              </a:ext>
            </a:extLst>
          </p:cNvPr>
          <p:cNvSpPr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Resistor Symbols, Types, and Models</a:t>
            </a:r>
            <a:endParaRPr lang="en-US" sz="32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E632920A-3B7B-7CA6-CE76-3ED4B019CA58}"/>
              </a:ext>
            </a:extLst>
          </p:cNvPr>
          <p:cNvSpPr/>
          <p:nvPr/>
        </p:nvSpPr>
        <p:spPr>
          <a:xfrm>
            <a:off x="457200" y="1097280"/>
            <a:ext cx="822960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/home/claude/orig_images/slide7_Picture_3.png">
            <a:extLst>
              <a:ext uri="{FF2B5EF4-FFF2-40B4-BE49-F238E27FC236}">
                <a16:creationId xmlns:a16="http://schemas.microsoft.com/office/drawing/2014/main" id="{F4F7CECE-D3C1-697C-8A78-9F93D75B6BB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99011" y="1325879"/>
            <a:ext cx="7905404" cy="320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13671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Ohm's Law — The Core Relationship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14400" y="1280160"/>
            <a:ext cx="7315200" cy="109728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97280" y="1371600"/>
            <a:ext cx="6949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B57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  =  I × R     Ohm’s Law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548640" y="3746634"/>
            <a:ext cx="80467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voltage → more current;  More resistance → less current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Ohm's Law is the single most used equation in electronics</a:t>
            </a:r>
          </a:p>
          <a:p>
            <a:pPr marL="342900" indent="-342900">
              <a:buSzPct val="100000"/>
              <a:buChar char="•"/>
            </a:pPr>
            <a:r>
              <a:rPr lang="en-US" i="1" dirty="0"/>
              <a:t>R </a:t>
            </a:r>
            <a:r>
              <a:rPr lang="en-US" dirty="0"/>
              <a:t>is the resistance or the resistor expressed in ohms (Ω), </a:t>
            </a:r>
            <a:r>
              <a:rPr lang="en-US" i="1" dirty="0"/>
              <a:t>P </a:t>
            </a:r>
            <a:r>
              <a:rPr lang="en-US" dirty="0"/>
              <a:t>is the power loss in watts (W), </a:t>
            </a:r>
            <a:r>
              <a:rPr lang="en-US" i="1" dirty="0"/>
              <a:t>V </a:t>
            </a:r>
            <a:r>
              <a:rPr lang="en-US" dirty="0"/>
              <a:t>is the voltage in volts (V), and </a:t>
            </a:r>
            <a:r>
              <a:rPr lang="en-US" i="1" dirty="0"/>
              <a:t>I </a:t>
            </a:r>
            <a:r>
              <a:rPr lang="en-US" dirty="0"/>
              <a:t>is the current in amperes (A).</a:t>
            </a:r>
            <a:endParaRPr lang="en-US" sz="1800" dirty="0"/>
          </a:p>
        </p:txBody>
      </p:sp>
      <p:sp>
        <p:nvSpPr>
          <p:cNvPr id="9" name="Shape 3">
            <a:extLst>
              <a:ext uri="{FF2B5EF4-FFF2-40B4-BE49-F238E27FC236}">
                <a16:creationId xmlns:a16="http://schemas.microsoft.com/office/drawing/2014/main" id="{CC6C93B6-0BD8-4D81-6052-43C4AF9B8EC8}"/>
              </a:ext>
            </a:extLst>
          </p:cNvPr>
          <p:cNvSpPr/>
          <p:nvPr/>
        </p:nvSpPr>
        <p:spPr>
          <a:xfrm>
            <a:off x="914400" y="2604837"/>
            <a:ext cx="7315200" cy="109728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pPr algn="ctr">
              <a:defRPr/>
            </a:pPr>
            <a:endParaRPr lang="en-US" sz="2200" b="1" dirty="0">
              <a:solidFill>
                <a:srgbClr val="2B579A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algn="ctr">
              <a:defRPr/>
            </a:pPr>
            <a:r>
              <a:rPr lang="en-US" sz="2200" b="1" dirty="0">
                <a:solidFill>
                  <a:srgbClr val="2B57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</a:t>
            </a: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2B579A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=  </a:t>
            </a:r>
            <a:r>
              <a:rPr lang="en-US" sz="2200" b="1" dirty="0">
                <a:solidFill>
                  <a:srgbClr val="2B57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 = V²/R </a:t>
            </a: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2B579A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= I²R       Ohm’s Power Law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 — Ohm's Law and Power (Fig. 2.39)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/home/claude/orig_images/slide10_Picture_4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188720"/>
            <a:ext cx="8229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Power Ratings Matter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8046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6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resistor has a maximum allowable power rating. Exceed it and it fails</a:t>
            </a:r>
            <a:endParaRPr lang="en-US" sz="2000" dirty="0"/>
          </a:p>
          <a:p>
            <a:pPr marL="342900" indent="-342900">
              <a:lnSpc>
                <a:spcPts val="26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ratings: 1/8 W, 1/4 W, 1/2 W, 1 W</a:t>
            </a:r>
          </a:p>
          <a:p>
            <a:pPr marL="342900" indent="-342900">
              <a:lnSpc>
                <a:spcPts val="26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dirty="0"/>
              <a:t>High- power resistors can range from 2 to several hundred watts</a:t>
            </a:r>
          </a:p>
          <a:p>
            <a:pPr marL="342900" indent="-342900">
              <a:lnSpc>
                <a:spcPts val="26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thumb: use at least twice the expected maximum dissipation</a:t>
            </a:r>
            <a:endParaRPr lang="en-US" sz="2000" dirty="0"/>
          </a:p>
          <a:p>
            <a:pPr marL="342900" indent="-342900">
              <a:lnSpc>
                <a:spcPts val="26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25 Ω resistor at 5 V needs &gt; 1 W rating</a:t>
            </a:r>
          </a:p>
          <a:p>
            <a:pPr marL="342900" indent="-342900">
              <a:lnSpc>
                <a:spcPts val="2600"/>
              </a:lnSpc>
              <a:spcAft>
                <a:spcPts val="800"/>
              </a:spcAft>
              <a:buSzPct val="100000"/>
              <a:buFontTx/>
              <a:buChar char="•"/>
            </a:pPr>
            <a:r>
              <a:rPr lang="en-US" sz="2000" dirty="0"/>
              <a:t>If you exceed the power rating, you’ll probably end up frying your</a:t>
            </a:r>
            <a:br>
              <a:rPr lang="en-US" sz="2000" dirty="0"/>
            </a:br>
            <a:r>
              <a:rPr lang="en-US" sz="2000" dirty="0"/>
              <a:t>resistor, destroying the internal structure, and thus altering the resistance</a:t>
            </a:r>
          </a:p>
          <a:p>
            <a:pPr marL="342900" indent="-342900">
              <a:lnSpc>
                <a:spcPts val="2600"/>
              </a:lnSpc>
              <a:spcAft>
                <a:spcPts val="800"/>
              </a:spcAft>
              <a:buSzPct val="100000"/>
              <a:buChar char="•"/>
            </a:pPr>
            <a:endParaRPr lang="en-US" sz="2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Loss and Power Ratings (Fig. 2.40)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/home/claude/orig_images/slide13_Picture_3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188720"/>
            <a:ext cx="8229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Examples — Ohm's Law Practice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1DF8C17-1552-23FB-4AB4-C169954E76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494" y="1230664"/>
            <a:ext cx="6785811" cy="15366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9FF0A1F-95DD-FCDB-0C3E-306E43A159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494" y="3212432"/>
            <a:ext cx="6785811" cy="1656748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Practice — Current, Power, and Ratings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92ACF54-4BE7-D698-B34E-1F4141DB30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101" y="1270903"/>
            <a:ext cx="7832558" cy="155666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8D0C580-27D9-F452-72B9-8133017A5E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751" y="2999798"/>
            <a:ext cx="7478498" cy="1582847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Resistors in Parallel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32004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voltage, shared current, lower total resistance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Connection — Concept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8046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6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Resistors in parallel share the same two nodes (same voltage across each)</a:t>
            </a:r>
            <a:endParaRPr lang="en-US" sz="2000" dirty="0"/>
          </a:p>
          <a:p>
            <a:pPr marL="342900" indent="-342900">
              <a:lnSpc>
                <a:spcPts val="26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paths and the current splits</a:t>
            </a:r>
            <a:endParaRPr lang="en-US" sz="2000" dirty="0"/>
          </a:p>
          <a:p>
            <a:pPr marL="342900" indent="-342900">
              <a:lnSpc>
                <a:spcPts val="26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resistance is always lower than the smallest </a:t>
            </a:r>
            <a:r>
              <a:rPr lang="en-US" sz="200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resistor</a:t>
            </a:r>
            <a:endParaRPr lang="en-US" sz="20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E4A9C52-9277-B4C8-E92A-CD808023B3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3831" y="2783506"/>
            <a:ext cx="4030579" cy="2159667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Kirchhoff's Current Law (KCL)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47548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400"/>
              </a:lnSpc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"Sum of currents into a node = sum of currents out“ </a:t>
            </a:r>
            <a:endParaRPr lang="en-US" sz="1800" dirty="0"/>
          </a:p>
          <a:p>
            <a:pPr marL="342900" indent="-342900">
              <a:lnSpc>
                <a:spcPts val="2400"/>
              </a:lnSpc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Conservation of charge</a:t>
            </a:r>
            <a:endParaRPr lang="en-US" sz="1800" dirty="0"/>
          </a:p>
          <a:p>
            <a:pPr marL="342900" indent="-342900">
              <a:lnSpc>
                <a:spcPts val="2400"/>
              </a:lnSpc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 junction: </a:t>
            </a:r>
            <a:r>
              <a:rPr lang="en-US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I₁ = I₂ + I₃ </a:t>
            </a:r>
            <a:endParaRPr lang="en-US" sz="1800" dirty="0"/>
          </a:p>
          <a:p>
            <a:pPr marL="342900" indent="-342900">
              <a:lnSpc>
                <a:spcPts val="2400"/>
              </a:lnSpc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KCL is the basis for the parallel resistance formula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355080" y="2286000"/>
            <a:ext cx="0" cy="0"/>
          </a:xfrm>
          <a:prstGeom prst="line">
            <a:avLst/>
          </a:prstGeom>
          <a:noFill/>
          <a:ln w="254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F6883CA0-720B-246B-73E7-FABB6EDC67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3497" y="1682916"/>
            <a:ext cx="3525253" cy="2486327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405685"/>
            <a:ext cx="7886700" cy="4227038"/>
          </a:xfrm>
        </p:spPr>
        <p:txBody>
          <a:bodyPr>
            <a:normAutofit fontScale="62500" lnSpcReduction="20000"/>
          </a:bodyPr>
          <a:lstStyle/>
          <a:p>
            <a:r>
              <a:rPr lang="en-US" dirty="0"/>
              <a:t>Because all resistor voltages are equal to </a:t>
            </a:r>
            <a:r>
              <a:rPr lang="en-US" i="1" dirty="0" err="1"/>
              <a:t>V</a:t>
            </a:r>
            <a:r>
              <a:rPr lang="en-US" baseline="-25000" dirty="0" err="1"/>
              <a:t>total</a:t>
            </a:r>
            <a:r>
              <a:rPr lang="en-US" dirty="0"/>
              <a:t> since they share the same voltage across them, we get: </a:t>
            </a:r>
            <a:r>
              <a:rPr lang="en-US" i="1" dirty="0" err="1"/>
              <a:t>I</a:t>
            </a:r>
            <a:r>
              <a:rPr lang="en-US" baseline="-25000" dirty="0" err="1"/>
              <a:t>total</a:t>
            </a:r>
            <a:r>
              <a:rPr lang="en-US" dirty="0"/>
              <a:t> = </a:t>
            </a:r>
            <a:r>
              <a:rPr lang="en-US" i="1" dirty="0" err="1"/>
              <a:t>V</a:t>
            </a:r>
            <a:r>
              <a:rPr lang="en-US" baseline="-25000" dirty="0" err="1"/>
              <a:t>total</a:t>
            </a:r>
            <a:r>
              <a:rPr lang="en-US" dirty="0"/>
              <a:t>/</a:t>
            </a:r>
            <a:r>
              <a:rPr lang="en-US" i="1" dirty="0"/>
              <a:t>R</a:t>
            </a:r>
            <a:r>
              <a:rPr lang="en-US" baseline="-25000" dirty="0"/>
              <a:t>1 </a:t>
            </a:r>
            <a:r>
              <a:rPr lang="en-US" dirty="0"/>
              <a:t>+ </a:t>
            </a:r>
            <a:r>
              <a:rPr lang="en-US" i="1" dirty="0" err="1"/>
              <a:t>V</a:t>
            </a:r>
            <a:r>
              <a:rPr lang="en-US" baseline="-25000" dirty="0" err="1"/>
              <a:t>total</a:t>
            </a:r>
            <a:r>
              <a:rPr lang="en-US" dirty="0"/>
              <a:t>/</a:t>
            </a:r>
            <a:r>
              <a:rPr lang="en-US" i="1" dirty="0"/>
              <a:t>R</a:t>
            </a:r>
            <a:r>
              <a:rPr lang="en-US" baseline="-25000" dirty="0"/>
              <a:t>2</a:t>
            </a:r>
            <a:r>
              <a:rPr lang="en-US" dirty="0"/>
              <a:t> + </a:t>
            </a:r>
            <a:r>
              <a:rPr lang="en-US" i="1" dirty="0" err="1"/>
              <a:t>V</a:t>
            </a:r>
            <a:r>
              <a:rPr lang="en-US" baseline="-25000" dirty="0" err="1"/>
              <a:t>total</a:t>
            </a:r>
            <a:r>
              <a:rPr lang="en-US" dirty="0"/>
              <a:t>/</a:t>
            </a:r>
            <a:r>
              <a:rPr lang="en-US" i="1" dirty="0"/>
              <a:t>R</a:t>
            </a:r>
            <a:r>
              <a:rPr lang="en-US" baseline="-25000" dirty="0"/>
              <a:t>3</a:t>
            </a:r>
            <a:r>
              <a:rPr lang="en-US" dirty="0"/>
              <a:t> + …</a:t>
            </a:r>
            <a:r>
              <a:rPr lang="en-US" i="1" dirty="0" err="1"/>
              <a:t>V</a:t>
            </a:r>
            <a:r>
              <a:rPr lang="en-US" baseline="-25000" dirty="0" err="1"/>
              <a:t>total</a:t>
            </a:r>
            <a:r>
              <a:rPr lang="en-US" dirty="0"/>
              <a:t>/</a:t>
            </a:r>
            <a:r>
              <a:rPr lang="en-US" i="1" dirty="0"/>
              <a:t>R</a:t>
            </a:r>
            <a:r>
              <a:rPr lang="en-US" i="1" baseline="-25000" dirty="0"/>
              <a:t>N</a:t>
            </a:r>
            <a:endParaRPr lang="en-US" dirty="0"/>
          </a:p>
          <a:p>
            <a:endParaRPr lang="en-US" dirty="0"/>
          </a:p>
          <a:p>
            <a:r>
              <a:rPr lang="en-US" dirty="0"/>
              <a:t>Factoring out </a:t>
            </a:r>
            <a:r>
              <a:rPr lang="en-US" i="1" dirty="0" err="1"/>
              <a:t>V</a:t>
            </a:r>
            <a:r>
              <a:rPr lang="en-US" baseline="-25000" dirty="0" err="1"/>
              <a:t>total</a:t>
            </a:r>
            <a:r>
              <a:rPr lang="en-US" dirty="0"/>
              <a:t>, we get: </a:t>
            </a:r>
            <a:r>
              <a:rPr lang="en-US" i="1" dirty="0" err="1"/>
              <a:t>I</a:t>
            </a:r>
            <a:r>
              <a:rPr lang="en-US" baseline="-25000" dirty="0" err="1"/>
              <a:t>total</a:t>
            </a:r>
            <a:r>
              <a:rPr lang="en-US" dirty="0"/>
              <a:t> = </a:t>
            </a:r>
            <a:r>
              <a:rPr lang="en-US" i="1" dirty="0" err="1"/>
              <a:t>V</a:t>
            </a:r>
            <a:r>
              <a:rPr lang="en-US" baseline="-25000" dirty="0" err="1"/>
              <a:t>total</a:t>
            </a:r>
            <a:r>
              <a:rPr lang="en-US" dirty="0"/>
              <a:t> (1/</a:t>
            </a:r>
            <a:r>
              <a:rPr lang="en-US" i="1" dirty="0"/>
              <a:t>R</a:t>
            </a:r>
            <a:r>
              <a:rPr lang="en-US" baseline="-25000" dirty="0"/>
              <a:t>1</a:t>
            </a:r>
            <a:r>
              <a:rPr lang="en-US" dirty="0"/>
              <a:t> + 1/</a:t>
            </a:r>
            <a:r>
              <a:rPr lang="en-US" i="1" dirty="0"/>
              <a:t>R</a:t>
            </a:r>
            <a:r>
              <a:rPr lang="en-US" baseline="-25000" dirty="0"/>
              <a:t>2</a:t>
            </a:r>
            <a:r>
              <a:rPr lang="en-US" dirty="0"/>
              <a:t> + 1/</a:t>
            </a:r>
            <a:r>
              <a:rPr lang="en-US" i="1" dirty="0"/>
              <a:t>R</a:t>
            </a:r>
            <a:r>
              <a:rPr lang="en-US" baseline="-25000" dirty="0"/>
              <a:t>3</a:t>
            </a:r>
            <a:r>
              <a:rPr lang="en-US" dirty="0"/>
              <a:t> … 1/</a:t>
            </a:r>
            <a:r>
              <a:rPr lang="en-US" i="1" dirty="0"/>
              <a:t>R</a:t>
            </a:r>
            <a:r>
              <a:rPr lang="en-US" baseline="-25000" dirty="0"/>
              <a:t>4</a:t>
            </a:r>
            <a:r>
              <a:rPr lang="en-US" dirty="0"/>
              <a:t>)</a:t>
            </a:r>
          </a:p>
          <a:p>
            <a:endParaRPr lang="en-US" dirty="0"/>
          </a:p>
          <a:p>
            <a:r>
              <a:rPr lang="en-US" dirty="0"/>
              <a:t>We call the term in brackets </a:t>
            </a:r>
            <a:r>
              <a:rPr lang="en-US" i="1" dirty="0" err="1"/>
              <a:t>R</a:t>
            </a:r>
            <a:r>
              <a:rPr lang="en-US" baseline="-25000" dirty="0" err="1"/>
              <a:t>total</a:t>
            </a:r>
            <a:endParaRPr lang="en-US" dirty="0"/>
          </a:p>
          <a:p>
            <a:endParaRPr lang="en-US" dirty="0"/>
          </a:p>
          <a:p>
            <a:r>
              <a:rPr lang="en-US" dirty="0"/>
              <a:t>Note that there is a shorthand for saying that two resistors are in parallel</a:t>
            </a:r>
          </a:p>
          <a:p>
            <a:endParaRPr lang="en-US" dirty="0"/>
          </a:p>
          <a:p>
            <a:r>
              <a:rPr lang="en-US" dirty="0"/>
              <a:t>The shorthand is to use double bars | | to indicate resistors in parallel. So to say </a:t>
            </a:r>
            <a:r>
              <a:rPr lang="en-US" i="1" dirty="0"/>
              <a:t>R</a:t>
            </a:r>
            <a:r>
              <a:rPr lang="en-US" baseline="-25000" dirty="0"/>
              <a:t>1</a:t>
            </a:r>
            <a:r>
              <a:rPr lang="en-US" dirty="0"/>
              <a:t> is in parallel with </a:t>
            </a:r>
            <a:r>
              <a:rPr lang="en-US" i="1" dirty="0"/>
              <a:t>R</a:t>
            </a:r>
            <a:r>
              <a:rPr lang="en-US" baseline="-25000" dirty="0"/>
              <a:t>2</a:t>
            </a:r>
            <a:r>
              <a:rPr lang="en-US" dirty="0"/>
              <a:t>, you would write </a:t>
            </a:r>
            <a:r>
              <a:rPr lang="en-US" i="1" dirty="0"/>
              <a:t>R</a:t>
            </a:r>
            <a:r>
              <a:rPr lang="en-US" baseline="-25000" dirty="0"/>
              <a:t>1</a:t>
            </a:r>
            <a:r>
              <a:rPr lang="en-US" dirty="0"/>
              <a:t> | | </a:t>
            </a:r>
            <a:r>
              <a:rPr lang="en-US" i="1" dirty="0"/>
              <a:t>R</a:t>
            </a:r>
            <a:r>
              <a:rPr lang="en-US" baseline="-25000" dirty="0"/>
              <a:t>2</a:t>
            </a:r>
            <a:endParaRPr lang="en-US" dirty="0"/>
          </a:p>
          <a:p>
            <a:endParaRPr lang="en-US" dirty="0"/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9748603F-4811-D3F2-54C3-A6DEBB7C4EAE}"/>
              </a:ext>
            </a:extLst>
          </p:cNvPr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93324427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Resistance Formulas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48463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400"/>
              </a:lnSpc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General: 1/R_total = 1/R₁ + 1/R₂ + 1/R₃ + …</a:t>
            </a:r>
            <a:endParaRPr lang="en-US" sz="1800" dirty="0"/>
          </a:p>
          <a:p>
            <a:pPr marL="342900" indent="-342900">
              <a:lnSpc>
                <a:spcPts val="2400"/>
              </a:lnSpc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resistors: R_total = (R₁ × R₂) / (R₁ + R₂)</a:t>
            </a:r>
            <a:endParaRPr lang="en-US" sz="1800" dirty="0"/>
          </a:p>
          <a:p>
            <a:pPr marL="342900" indent="-342900">
              <a:lnSpc>
                <a:spcPts val="2400"/>
              </a:lnSpc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equal resistors: R_total = R / N</a:t>
            </a:r>
            <a:endParaRPr lang="en-US" sz="1800" dirty="0"/>
          </a:p>
          <a:p>
            <a:pPr marL="342900" indent="-342900">
              <a:lnSpc>
                <a:spcPts val="2400"/>
              </a:lnSpc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less than the smallest individual R</a:t>
            </a:r>
            <a:endParaRPr lang="en-US" sz="1800" dirty="0"/>
          </a:p>
        </p:txBody>
      </p:sp>
      <p:pic>
        <p:nvPicPr>
          <p:cNvPr id="6" name="Image 0" descr="/home/claude/orig_images/slide18_Picture_3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407694" y="2803359"/>
            <a:ext cx="5690937" cy="18673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540913"/>
            <a:ext cx="7886700" cy="4091810"/>
          </a:xfrm>
        </p:spPr>
        <p:txBody>
          <a:bodyPr/>
          <a:lstStyle/>
          <a:p>
            <a:r>
              <a:rPr lang="en-US" dirty="0"/>
              <a:t>Thus, you can express two resistors in parallel in the following ways: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In terms of arithmetic order of operation, the | | can be</a:t>
            </a:r>
            <a:br>
              <a:rPr lang="en-US" dirty="0"/>
            </a:br>
            <a:r>
              <a:rPr lang="en-US" dirty="0"/>
              <a:t>treated similar to multiplication or division</a:t>
            </a:r>
          </a:p>
          <a:p>
            <a:endParaRPr lang="en-US" dirty="0"/>
          </a:p>
          <a:p>
            <a:r>
              <a:rPr lang="en-US" dirty="0"/>
              <a:t> For example, in the equation </a:t>
            </a:r>
            <a:r>
              <a:rPr lang="en-US" i="1" dirty="0" err="1"/>
              <a:t>Z</a:t>
            </a:r>
            <a:r>
              <a:rPr lang="en-US" i="1" baseline="-25000" dirty="0" err="1"/>
              <a:t>in</a:t>
            </a:r>
            <a:r>
              <a:rPr lang="en-US" i="1" dirty="0"/>
              <a:t> </a:t>
            </a:r>
            <a:r>
              <a:rPr lang="en-US" dirty="0"/>
              <a:t>= </a:t>
            </a:r>
            <a:r>
              <a:rPr lang="en-US" i="1" dirty="0"/>
              <a:t>R</a:t>
            </a:r>
            <a:r>
              <a:rPr lang="en-US" baseline="-25000" dirty="0"/>
              <a:t>1</a:t>
            </a:r>
            <a:r>
              <a:rPr lang="en-US" dirty="0"/>
              <a:t> + </a:t>
            </a:r>
            <a:r>
              <a:rPr lang="en-US" i="1" dirty="0"/>
              <a:t>R</a:t>
            </a:r>
            <a:r>
              <a:rPr lang="en-US" baseline="-25000" dirty="0"/>
              <a:t>2</a:t>
            </a:r>
            <a:r>
              <a:rPr lang="en-US" dirty="0"/>
              <a:t> | | </a:t>
            </a:r>
            <a:r>
              <a:rPr lang="en-US" i="1" dirty="0" err="1"/>
              <a:t>R</a:t>
            </a:r>
            <a:r>
              <a:rPr lang="en-US" i="1" baseline="-25000" dirty="0" err="1"/>
              <a:t>load</a:t>
            </a:r>
            <a:r>
              <a:rPr lang="en-US" dirty="0"/>
              <a:t>, you calculate </a:t>
            </a:r>
            <a:r>
              <a:rPr lang="en-US" i="1" dirty="0"/>
              <a:t>R</a:t>
            </a:r>
            <a:r>
              <a:rPr lang="en-US" baseline="-25000" dirty="0"/>
              <a:t>2</a:t>
            </a:r>
            <a:r>
              <a:rPr lang="en-US" dirty="0"/>
              <a:t> and </a:t>
            </a:r>
            <a:r>
              <a:rPr lang="en-US" i="1" dirty="0" err="1"/>
              <a:t>R</a:t>
            </a:r>
            <a:r>
              <a:rPr lang="en-US" i="1" baseline="-25000" dirty="0" err="1"/>
              <a:t>load</a:t>
            </a:r>
            <a:r>
              <a:rPr lang="en-US" i="1" dirty="0"/>
              <a:t> </a:t>
            </a:r>
            <a:r>
              <a:rPr lang="en-US" dirty="0"/>
              <a:t>in parallel first, and then you add </a:t>
            </a:r>
            <a:r>
              <a:rPr lang="en-US" i="1" dirty="0"/>
              <a:t>R</a:t>
            </a:r>
            <a:r>
              <a:rPr lang="en-US" baseline="-25000" dirty="0"/>
              <a:t>1</a:t>
            </a:r>
            <a:r>
              <a:rPr lang="en-US" dirty="0"/>
              <a:t> 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6320" y="1024876"/>
            <a:ext cx="2769389" cy="684794"/>
          </a:xfrm>
          <a:prstGeom prst="rect">
            <a:avLst/>
          </a:prstGeom>
        </p:spPr>
      </p:pic>
      <p:sp>
        <p:nvSpPr>
          <p:cNvPr id="5" name="Text 0">
            <a:extLst>
              <a:ext uri="{FF2B5EF4-FFF2-40B4-BE49-F238E27FC236}">
                <a16:creationId xmlns:a16="http://schemas.microsoft.com/office/drawing/2014/main" id="{61792A26-606D-D107-C594-E9FCDECE5581}"/>
              </a:ext>
            </a:extLst>
          </p:cNvPr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80465480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1" y="148107"/>
            <a:ext cx="5979017" cy="4671107"/>
          </a:xfrm>
          <a:prstGeom prst="rect">
            <a:avLst/>
          </a:prstGeom>
        </p:spPr>
      </p:pic>
      <p:sp>
        <p:nvSpPr>
          <p:cNvPr id="2" name="Text 0">
            <a:extLst>
              <a:ext uri="{FF2B5EF4-FFF2-40B4-BE49-F238E27FC236}">
                <a16:creationId xmlns:a16="http://schemas.microsoft.com/office/drawing/2014/main" id="{6F111EB4-7F08-A86F-56EF-DA98FBE909B1}"/>
              </a:ext>
            </a:extLst>
          </p:cNvPr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91994333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Circuit — 1 kΩ ∥ 3 kΩ (Fig. 2.41)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/home/claude/orig_images/slide24_Picture_3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85801" y="1203160"/>
            <a:ext cx="3164305" cy="366602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4C72D78-F0F0-3CBE-AB5C-FA0A131D43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78704" y="1301623"/>
            <a:ext cx="4608095" cy="3248913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Three-Resistor Parallel — Example 2 (Fig. 2.42)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0D3790D-33A7-C9FA-17B6-DCC69E9F93C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3740" b="16188"/>
          <a:stretch/>
        </p:blipFill>
        <p:spPr>
          <a:xfrm>
            <a:off x="637673" y="1941295"/>
            <a:ext cx="7471611" cy="1313646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82469E9-D05C-6D6B-4B39-26888FA403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8020C47-7A73-FD81-557B-55771CE6582A}"/>
              </a:ext>
            </a:extLst>
          </p:cNvPr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1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068BA5A-194A-3A45-1F79-9D8F5073CCC8}"/>
              </a:ext>
            </a:extLst>
          </p:cNvPr>
          <p:cNvSpPr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Three-Resistor Parallel — Solution (Fig. 2.42)</a:t>
            </a:r>
            <a:endParaRPr lang="en-US" sz="28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1285A628-857D-FCEF-AA0B-C5239C5B4FA9}"/>
              </a:ext>
            </a:extLst>
          </p:cNvPr>
          <p:cNvSpPr/>
          <p:nvPr/>
        </p:nvSpPr>
        <p:spPr>
          <a:xfrm>
            <a:off x="457200" y="1097280"/>
            <a:ext cx="822960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AEF0CB6-37BB-9E5C-F420-8F5DE7F66C1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993" t="5195" r="7919" b="1754"/>
          <a:stretch/>
        </p:blipFill>
        <p:spPr>
          <a:xfrm>
            <a:off x="1846691" y="1142399"/>
            <a:ext cx="4963183" cy="3726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126678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Three-Resistor Parallel — Calculations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/home/claude/orig_images/slide27_Picture_3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65760" y="1234440"/>
            <a:ext cx="3931920" cy="2743200"/>
          </a:xfrm>
          <a:prstGeom prst="rect">
            <a:avLst/>
          </a:prstGeom>
        </p:spPr>
      </p:pic>
      <p:pic>
        <p:nvPicPr>
          <p:cNvPr id="6" name="Image 1" descr="/home/claude/orig_images/slide27_Picture_4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572000" y="1303020"/>
            <a:ext cx="393192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Three-Resistor Parallel — Total Current &amp; Power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/home/claude/orig_images/slide28_Picture_3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14400" y="1335504"/>
            <a:ext cx="6966284" cy="3053615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Resistors in Series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32004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current, additive voltage drops, and the voltage divider</a:t>
            </a:r>
            <a:endParaRPr lang="en-US" sz="18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 Connection — Concept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50292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400"/>
              </a:lnSpc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current through every resistor in the chain</a:t>
            </a:r>
            <a:endParaRPr lang="en-US" sz="1800" dirty="0"/>
          </a:p>
          <a:p>
            <a:pPr marL="342900" indent="-342900">
              <a:lnSpc>
                <a:spcPts val="2400"/>
              </a:lnSpc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Voltage divides: V_total = V₁ + V₂ + V₃ + …</a:t>
            </a:r>
            <a:endParaRPr lang="en-US" sz="1800" dirty="0"/>
          </a:p>
          <a:p>
            <a:pPr marL="342900" indent="-342900">
              <a:lnSpc>
                <a:spcPts val="2400"/>
              </a:lnSpc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R_total = R₁ + R₂ + R₃ + …</a:t>
            </a:r>
            <a:endParaRPr lang="en-US" sz="1800" dirty="0"/>
          </a:p>
          <a:p>
            <a:pPr marL="342900" indent="-342900">
              <a:lnSpc>
                <a:spcPts val="2400"/>
              </a:lnSpc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series R always increases total resistance</a:t>
            </a:r>
            <a:endParaRPr lang="en-US" sz="1800" dirty="0"/>
          </a:p>
          <a:p>
            <a:pPr marL="342900" indent="-342900">
              <a:lnSpc>
                <a:spcPts val="2400"/>
              </a:lnSpc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Larger R → larger voltage drop (V = IR)</a:t>
            </a:r>
            <a:endParaRPr lang="en-US" sz="18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6B3CE03-E8C9-200D-C656-B894EED40B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7524" y="1582453"/>
            <a:ext cx="3229276" cy="2280887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Kirchhoff's Voltage Law (KVL)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1E2124C-F815-65EC-E379-2C26B99B09E4}"/>
              </a:ext>
            </a:extLst>
          </p:cNvPr>
          <p:cNvSpPr txBox="1"/>
          <p:nvPr/>
        </p:nvSpPr>
        <p:spPr>
          <a:xfrm>
            <a:off x="1094874" y="1494918"/>
            <a:ext cx="7134726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You can derive this formula by noting that the sum of all the voltage drops across each series resistor will equal the applied voltage across the combination </a:t>
            </a:r>
            <a:r>
              <a:rPr lang="en-US" i="1" dirty="0" err="1"/>
              <a:t>V</a:t>
            </a:r>
            <a:r>
              <a:rPr lang="en-US" baseline="-25000" dirty="0" err="1"/>
              <a:t>total</a:t>
            </a:r>
            <a:r>
              <a:rPr lang="en-US" dirty="0"/>
              <a:t> = </a:t>
            </a:r>
            <a:r>
              <a:rPr lang="en-US" i="1" dirty="0"/>
              <a:t>V</a:t>
            </a:r>
            <a:r>
              <a:rPr lang="en-US" baseline="-25000" dirty="0"/>
              <a:t>1</a:t>
            </a:r>
            <a:r>
              <a:rPr lang="en-US" dirty="0"/>
              <a:t> + </a:t>
            </a:r>
            <a:r>
              <a:rPr lang="en-US" i="1" dirty="0"/>
              <a:t>V</a:t>
            </a:r>
            <a:r>
              <a:rPr lang="en-US" baseline="-25000" dirty="0"/>
              <a:t>2</a:t>
            </a:r>
            <a:r>
              <a:rPr lang="en-US" dirty="0"/>
              <a:t> + </a:t>
            </a:r>
            <a:r>
              <a:rPr lang="en-US" i="1" dirty="0"/>
              <a:t>V</a:t>
            </a:r>
            <a:r>
              <a:rPr lang="en-US" baseline="-25000" dirty="0"/>
              <a:t>3 </a:t>
            </a:r>
            <a:r>
              <a:rPr lang="en-US" dirty="0"/>
              <a:t>+ … + </a:t>
            </a:r>
            <a:r>
              <a:rPr lang="en-US" i="1" dirty="0"/>
              <a:t>V</a:t>
            </a:r>
            <a:r>
              <a:rPr lang="en-US" i="1" baseline="-25000" dirty="0"/>
              <a:t>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i="1" baseline="-25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This is referred to as Kirchhoff’s voltage law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Applying Ohm’s law, and noting that the same current </a:t>
            </a:r>
            <a:r>
              <a:rPr lang="en-US" i="1" dirty="0"/>
              <a:t>I </a:t>
            </a:r>
            <a:r>
              <a:rPr lang="en-US" dirty="0"/>
              <a:t>flows through each resistor, we get: </a:t>
            </a:r>
            <a:r>
              <a:rPr lang="en-US" i="1" dirty="0" err="1"/>
              <a:t>IR</a:t>
            </a:r>
            <a:r>
              <a:rPr lang="en-US" baseline="-25000" dirty="0" err="1"/>
              <a:t>total</a:t>
            </a:r>
            <a:r>
              <a:rPr lang="en-US" dirty="0"/>
              <a:t> = </a:t>
            </a:r>
            <a:r>
              <a:rPr lang="en-US" i="1" dirty="0"/>
              <a:t>IR</a:t>
            </a:r>
            <a:r>
              <a:rPr lang="en-US" baseline="-25000" dirty="0"/>
              <a:t>1</a:t>
            </a:r>
            <a:r>
              <a:rPr lang="en-US" dirty="0"/>
              <a:t> + </a:t>
            </a:r>
            <a:r>
              <a:rPr lang="en-US" i="1" dirty="0"/>
              <a:t>IR</a:t>
            </a:r>
            <a:r>
              <a:rPr lang="en-US" baseline="-25000" dirty="0"/>
              <a:t>2</a:t>
            </a:r>
            <a:r>
              <a:rPr lang="en-US" dirty="0"/>
              <a:t> + </a:t>
            </a:r>
            <a:r>
              <a:rPr lang="en-US" i="1" dirty="0"/>
              <a:t>IR</a:t>
            </a:r>
            <a:r>
              <a:rPr lang="en-US" baseline="-25000" dirty="0"/>
              <a:t>3</a:t>
            </a:r>
            <a:r>
              <a:rPr lang="en-US" dirty="0"/>
              <a:t> + … + </a:t>
            </a:r>
            <a:r>
              <a:rPr lang="en-US" i="1" dirty="0"/>
              <a:t>IR</a:t>
            </a:r>
            <a:r>
              <a:rPr lang="en-US" i="1" baseline="-25000" dirty="0"/>
              <a:t>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i="1" baseline="-25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Canceling the </a:t>
            </a:r>
            <a:r>
              <a:rPr lang="en-US" i="1" dirty="0"/>
              <a:t>I</a:t>
            </a:r>
            <a:r>
              <a:rPr lang="en-US" dirty="0"/>
              <a:t>’s you get: </a:t>
            </a:r>
            <a:r>
              <a:rPr lang="en-US" i="1" dirty="0" err="1"/>
              <a:t>R</a:t>
            </a:r>
            <a:r>
              <a:rPr lang="en-US" baseline="-25000" dirty="0" err="1"/>
              <a:t>total</a:t>
            </a:r>
            <a:r>
              <a:rPr lang="en-US" dirty="0"/>
              <a:t> = </a:t>
            </a:r>
            <a:r>
              <a:rPr lang="en-US" i="1" dirty="0"/>
              <a:t>R</a:t>
            </a:r>
            <a:r>
              <a:rPr lang="en-US" baseline="-25000" dirty="0"/>
              <a:t>1</a:t>
            </a:r>
            <a:r>
              <a:rPr lang="en-US" dirty="0"/>
              <a:t> + </a:t>
            </a:r>
            <a:r>
              <a:rPr lang="en-US" i="1" dirty="0"/>
              <a:t>R</a:t>
            </a:r>
            <a:r>
              <a:rPr lang="en-US" baseline="-25000" dirty="0"/>
              <a:t>2</a:t>
            </a:r>
            <a:r>
              <a:rPr lang="en-US" dirty="0"/>
              <a:t> + </a:t>
            </a:r>
            <a:r>
              <a:rPr lang="en-US" i="1" dirty="0"/>
              <a:t>R</a:t>
            </a:r>
            <a:r>
              <a:rPr lang="en-US" baseline="-25000" dirty="0"/>
              <a:t>3</a:t>
            </a:r>
            <a:r>
              <a:rPr lang="en-US" dirty="0"/>
              <a:t> + </a:t>
            </a:r>
            <a:r>
              <a:rPr lang="en-US" i="1" dirty="0"/>
              <a:t>R</a:t>
            </a:r>
            <a:r>
              <a:rPr lang="en-US" baseline="-25000" dirty="0"/>
              <a:t>4</a:t>
            </a:r>
            <a:r>
              <a:rPr lang="en-US" dirty="0"/>
              <a:t> + … 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 Example — 1 kΩ + 2 kΩ (Calculations)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/home/claude/orig_images/slide31_Picture_3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973180" y="1491916"/>
            <a:ext cx="4957010" cy="3348387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Resistors in Series — Circuit Diagram (Fig. 2.43)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/home/claude/orig_images/slide32_Picture_3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128210" y="1188720"/>
            <a:ext cx="2707105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Voltage Drops &amp; Voltage Divider Derivation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C897717-8B56-1233-C2EE-5F1C67C072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158" y="1263317"/>
            <a:ext cx="6715612" cy="157613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DED3604-4F01-96E7-CB0D-3DDAE3DF8E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9432" y="3080153"/>
            <a:ext cx="5865770" cy="1811887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Voltage Divider Equation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FE7A454-E847-DFE1-3D3F-11C71B079C97}"/>
              </a:ext>
            </a:extLst>
          </p:cNvPr>
          <p:cNvSpPr txBox="1"/>
          <p:nvPr/>
        </p:nvSpPr>
        <p:spPr>
          <a:xfrm>
            <a:off x="745958" y="1380534"/>
            <a:ext cx="7904747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These equations are called </a:t>
            </a:r>
            <a:r>
              <a:rPr lang="en-US" i="1" dirty="0"/>
              <a:t>voltage divider equations </a:t>
            </a:r>
            <a:r>
              <a:rPr lang="en-US" dirty="0"/>
              <a:t>and are so useful in electronics that it is worth memorizing them. (See Fig. 2.43.)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Often </a:t>
            </a:r>
            <a:r>
              <a:rPr lang="en-US" i="1" dirty="0"/>
              <a:t>V</a:t>
            </a:r>
            <a:r>
              <a:rPr lang="en-US" baseline="-25000" dirty="0"/>
              <a:t>2</a:t>
            </a:r>
            <a:r>
              <a:rPr lang="en-US" dirty="0"/>
              <a:t> is called the output voltage </a:t>
            </a:r>
            <a:r>
              <a:rPr lang="en-US" i="1" dirty="0" err="1"/>
              <a:t>V</a:t>
            </a:r>
            <a:r>
              <a:rPr lang="en-US" baseline="-25000" dirty="0" err="1"/>
              <a:t>out</a:t>
            </a:r>
            <a:endParaRPr lang="en-US" baseline="-25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aseline="-25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voltage drop across each resistor is directly proportional to the resistance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voltage drop across the 2000-Ω resistor is twice as large as that of the 1000-Ω resistor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Adding both voltage drops together gives you the applied voltage of 9 V: 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 — Power Loss in Each Resistor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/home/claude/orig_images/slide35_Picture_3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155033" y="1422132"/>
            <a:ext cx="6617368" cy="3007894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Three-Resistor Series Example (Fig. 2.46)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593F15A-95CC-373F-46E5-FF8706F226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208" y="1920240"/>
            <a:ext cx="6864498" cy="1262588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976B2BC-305D-79B3-65A0-FA1F148BA0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281D372-DEA3-BB0B-8BC3-9E2DA92C3E40}"/>
              </a:ext>
            </a:extLst>
          </p:cNvPr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11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34B9F45-3495-AF3C-0BE9-1DC373E12A55}"/>
              </a:ext>
            </a:extLst>
          </p:cNvPr>
          <p:cNvSpPr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Three-Resistor Series Solution (Fig. 2.46)</a:t>
            </a:r>
            <a:endParaRPr lang="en-US" sz="28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AD0C3143-F189-E892-B8BE-72C768AA7B13}"/>
              </a:ext>
            </a:extLst>
          </p:cNvPr>
          <p:cNvSpPr/>
          <p:nvPr/>
        </p:nvSpPr>
        <p:spPr>
          <a:xfrm>
            <a:off x="457200" y="1097280"/>
            <a:ext cx="822960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8DBCF23-1B7B-E151-863A-1ED0DCDB9E4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5562"/>
          <a:stretch/>
        </p:blipFill>
        <p:spPr>
          <a:xfrm>
            <a:off x="1707167" y="1251284"/>
            <a:ext cx="5176212" cy="3617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643936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Three-Resistor Series — Calculations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/home/claude/orig_images/slide37_Picture_3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65760" y="1234440"/>
            <a:ext cx="3931920" cy="2926080"/>
          </a:xfrm>
          <a:prstGeom prst="rect">
            <a:avLst/>
          </a:prstGeom>
        </p:spPr>
      </p:pic>
      <p:pic>
        <p:nvPicPr>
          <p:cNvPr id="6" name="Image 1" descr="/home/claude/orig_images/slide37_Picture_4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754880" y="1234440"/>
            <a:ext cx="3931920" cy="292608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Three-Resistor Series — Total Power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/home/claude/orig_images/slide38_Picture_3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321067" y="1742173"/>
            <a:ext cx="5958038" cy="1999648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Measuring Voltage, Current, and Resistance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32004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instruments vs. real-world limitations</a:t>
            </a:r>
            <a:endParaRPr lang="en-US" sz="18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Measurement Matters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804672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6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cannot debug what you cannot measure</a:t>
            </a:r>
          </a:p>
          <a:p>
            <a:pPr marL="342900" indent="-342900">
              <a:lnSpc>
                <a:spcPts val="26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dirty="0"/>
              <a:t>Voltmeters, ammeters, and ohmmeters are used to measure voltage, current, and resistance. Ideally it should never introduce any effects within the circuit under test</a:t>
            </a:r>
          </a:p>
          <a:p>
            <a:pPr marL="342900" indent="-342900">
              <a:lnSpc>
                <a:spcPts val="26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dirty="0"/>
              <a:t>In theory, an ideal voltmeter should draw no current as it measures a voltage between two points in a circuit; it has infinite input resistance </a:t>
            </a:r>
            <a:r>
              <a:rPr lang="en-US" sz="2000" i="1" dirty="0"/>
              <a:t>R</a:t>
            </a:r>
            <a:r>
              <a:rPr lang="en-US" sz="2000" baseline="-25000" dirty="0"/>
              <a:t>in</a:t>
            </a:r>
          </a:p>
          <a:p>
            <a:pPr marL="342900" indent="-342900">
              <a:lnSpc>
                <a:spcPts val="2600"/>
              </a:lnSpc>
              <a:spcAft>
                <a:spcPts val="800"/>
              </a:spcAft>
              <a:buSzPct val="100000"/>
              <a:buFontTx/>
              <a:buChar char="•"/>
            </a:pPr>
            <a:r>
              <a:rPr lang="en-US" sz="2000" dirty="0"/>
              <a:t>Likewise, an ideal ammeter should introduce no voltage drop when it is placed in series within the circuit; it has zero input resistance</a:t>
            </a:r>
          </a:p>
          <a:p>
            <a:pPr marL="342900" indent="-342900">
              <a:lnSpc>
                <a:spcPts val="2600"/>
              </a:lnSpc>
              <a:spcAft>
                <a:spcPts val="800"/>
              </a:spcAft>
              <a:buSzPct val="100000"/>
              <a:buFontTx/>
              <a:buChar char="•"/>
            </a:pPr>
            <a:r>
              <a:rPr lang="en-US" sz="2000" dirty="0"/>
              <a:t>An ideal ohmmeter should provide no additional resistance</a:t>
            </a:r>
            <a:br>
              <a:rPr lang="en-US" sz="2000" dirty="0"/>
            </a:br>
            <a:r>
              <a:rPr lang="en-US" sz="2000" dirty="0"/>
              <a:t>when making a resistance measurement</a:t>
            </a:r>
          </a:p>
          <a:p>
            <a:pPr marL="342900" indent="-342900">
              <a:lnSpc>
                <a:spcPts val="2600"/>
              </a:lnSpc>
              <a:spcAft>
                <a:spcPts val="800"/>
              </a:spcAft>
              <a:buSzPct val="100000"/>
              <a:buFontTx/>
              <a:buChar char="•"/>
            </a:pPr>
            <a:endParaRPr lang="en-US" sz="20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vs. Real Instruments (Fig. 2.55)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/home/claude/orig_images/slide41_Picture_3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68404" y="1371600"/>
            <a:ext cx="7161196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889030E-A9FD-61C1-DDE5-C15413554D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1A52516-F5F1-7CA9-C940-F6232D7C9D10}"/>
              </a:ext>
            </a:extLst>
          </p:cNvPr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11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2235E82-3626-63BC-B5D4-A986C32226B1}"/>
              </a:ext>
            </a:extLst>
          </p:cNvPr>
          <p:cNvSpPr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vs. Real Instruments (Fig. 2.55)</a:t>
            </a:r>
            <a:endParaRPr lang="en-US" sz="32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29B2DA41-DE1D-6747-C9B8-1BDE1AC6EC02}"/>
              </a:ext>
            </a:extLst>
          </p:cNvPr>
          <p:cNvSpPr/>
          <p:nvPr/>
        </p:nvSpPr>
        <p:spPr>
          <a:xfrm>
            <a:off x="457200" y="1097280"/>
            <a:ext cx="822960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BEFFD80-D646-42D1-F70F-167DF3F1F402}"/>
              </a:ext>
            </a:extLst>
          </p:cNvPr>
          <p:cNvSpPr txBox="1">
            <a:spLocks/>
          </p:cNvSpPr>
          <p:nvPr/>
        </p:nvSpPr>
        <p:spPr>
          <a:xfrm>
            <a:off x="782052" y="1380028"/>
            <a:ext cx="6894095" cy="3068045"/>
          </a:xfrm>
          <a:prstGeom prst="rect">
            <a:avLst/>
          </a:prstGeom>
        </p:spPr>
        <p:txBody>
          <a:bodyPr>
            <a:normAutofit fontScale="550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An </a:t>
            </a:r>
            <a:r>
              <a:rPr lang="en-US" i="1" dirty="0"/>
              <a:t>ideal voltmeter </a:t>
            </a:r>
            <a:r>
              <a:rPr lang="en-US" dirty="0"/>
              <a:t>has infinite input resistance and draws no current; a real voltmeter’s input resistance is several hundred MΩs</a:t>
            </a:r>
          </a:p>
          <a:p>
            <a:endParaRPr lang="en-US" dirty="0"/>
          </a:p>
          <a:p>
            <a:r>
              <a:rPr lang="en-US" dirty="0"/>
              <a:t>An </a:t>
            </a:r>
            <a:r>
              <a:rPr lang="en-US" i="1" dirty="0"/>
              <a:t>ideal ammeter </a:t>
            </a:r>
            <a:r>
              <a:rPr lang="en-US" dirty="0"/>
              <a:t>has zero input resistance and provides no voltage drop; a real ammeter’s input resistance is fractions of ohms</a:t>
            </a:r>
          </a:p>
          <a:p>
            <a:endParaRPr lang="en-US" dirty="0"/>
          </a:p>
          <a:p>
            <a:r>
              <a:rPr lang="en-US" dirty="0"/>
              <a:t>An </a:t>
            </a:r>
            <a:r>
              <a:rPr lang="en-US" i="1" dirty="0"/>
              <a:t>ideal ohmmeter </a:t>
            </a:r>
            <a:r>
              <a:rPr lang="en-US" dirty="0"/>
              <a:t>has zero internal resistance; a real ohmmeter’s internal resistance is fractions of ohms</a:t>
            </a:r>
          </a:p>
          <a:p>
            <a:endParaRPr lang="en-US" dirty="0"/>
          </a:p>
          <a:p>
            <a:r>
              <a:rPr lang="en-US" dirty="0"/>
              <a:t>It is important to read your instrument manuals to determine the internal resistances. </a:t>
            </a:r>
          </a:p>
        </p:txBody>
      </p:sp>
    </p:spTree>
    <p:extLst>
      <p:ext uri="{BB962C8B-B14F-4D97-AF65-F5344CB8AC3E}">
        <p14:creationId xmlns:p14="http://schemas.microsoft.com/office/powerpoint/2010/main" val="167226621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Meter Loading Effects (Fig. 2.56)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/home/claude/orig_images/slide44_Picture_3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188720"/>
            <a:ext cx="8229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Voltmeter Affects the Circuit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8046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6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Voltmeter connects in parallel — its </a:t>
            </a:r>
            <a:r>
              <a:rPr lang="en-US" sz="200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resistance </a:t>
            </a:r>
            <a:r>
              <a:rPr lang="en-US" sz="2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forms a voltage divider</a:t>
            </a:r>
            <a:endParaRPr lang="en-US" sz="2000" dirty="0"/>
          </a:p>
          <a:p>
            <a:pPr marL="342900" indent="-342900">
              <a:lnSpc>
                <a:spcPts val="26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resistance in the circuit  being measured is far less than the input resistance of the meter, effect is negligible</a:t>
            </a:r>
            <a:endParaRPr lang="en-US" sz="2000" dirty="0"/>
          </a:p>
          <a:p>
            <a:pPr marL="342900" indent="-342900">
              <a:lnSpc>
                <a:spcPts val="26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resistance in the circuit  being measured is equivalent to the input resistance of the meter, the circuit is loaded</a:t>
            </a:r>
            <a:endParaRPr lang="en-US" sz="2000" dirty="0"/>
          </a:p>
          <a:p>
            <a:pPr marL="342900" indent="-342900">
              <a:lnSpc>
                <a:spcPts val="26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2.56: 10 kΩ circuit + 100 kΩ meter → 3% error</a:t>
            </a:r>
            <a:endParaRPr lang="en-US" sz="2000" dirty="0"/>
          </a:p>
          <a:p>
            <a:pPr marL="342900" indent="-342900">
              <a:lnSpc>
                <a:spcPts val="26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</a:t>
            </a:r>
            <a:r>
              <a:rPr lang="en-US" sz="2000" dirty="0"/>
              <a:t>Digital </a:t>
            </a:r>
            <a:r>
              <a:rPr lang="en-US" sz="2000" dirty="0" err="1"/>
              <a:t>MultiMeter</a:t>
            </a:r>
            <a:r>
              <a:rPr lang="en-US" sz="2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10 MΩ+ input resistance</a:t>
            </a:r>
            <a:endParaRPr lang="en-US" sz="20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an Ammeter Affects the Circuit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 3"/>
              <p:cNvSpPr/>
              <p:nvPr/>
            </p:nvSpPr>
            <p:spPr>
              <a:xfrm>
                <a:off x="548640" y="1280160"/>
                <a:ext cx="8046720" cy="3474720"/>
              </a:xfrm>
              <a:prstGeom prst="rect">
                <a:avLst/>
              </a:prstGeom>
              <a:noFill/>
              <a:ln/>
            </p:spPr>
            <p:txBody>
              <a:bodyPr wrap="square" rtlCol="0" anchor="t"/>
              <a:lstStyle/>
              <a:p>
                <a:pPr marL="342900" indent="-342900">
                  <a:lnSpc>
                    <a:spcPts val="2600"/>
                  </a:lnSpc>
                  <a:spcAft>
                    <a:spcPts val="800"/>
                  </a:spcAft>
                  <a:buSzPct val="100000"/>
                  <a:buChar char="•"/>
                </a:pPr>
                <a:r>
                  <a:rPr lang="en-US" sz="2000" dirty="0"/>
                  <a:t>An ammeter goes in series with the circuit. Its small internal resistance adds to the total, reducing the current you're trying to measure.</a:t>
                </a:r>
              </a:p>
              <a:p>
                <a:pPr marL="342900" indent="-342900">
                  <a:lnSpc>
                    <a:spcPts val="2600"/>
                  </a:lnSpc>
                  <a:spcAft>
                    <a:spcPts val="800"/>
                  </a:spcAft>
                  <a:buSzPct val="100000"/>
                  <a:buChar char="•"/>
                </a:pP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/>
                      <m:t>0.2</m:t>
                    </m:r>
                    <m:r>
                      <m:rPr>
                        <m:sty m:val="p"/>
                      </m:rPr>
                      <a:rPr lang="en-US"/>
                      <m:t>Ω</m:t>
                    </m:r>
                  </m:oMath>
                </a14:m>
                <a:r>
                  <a:rPr lang="en-US" sz="2000" dirty="0"/>
                  <a:t> ammeter in a </a:t>
                </a:r>
                <a14:m>
                  <m:oMath xmlns:m="http://schemas.openxmlformats.org/officeDocument/2006/math">
                    <m:r>
                      <a:rPr lang="en-US"/>
                      <m:t>10</m:t>
                    </m:r>
                    <m:r>
                      <m:rPr>
                        <m:sty m:val="p"/>
                      </m:rPr>
                      <a:rPr lang="en-US"/>
                      <m:t>Ω</m:t>
                    </m:r>
                  </m:oMath>
                </a14:m>
                <a:r>
                  <a:rPr lang="en-US" sz="2000" dirty="0"/>
                  <a:t>circuit caused a 2% error.</a:t>
                </a:r>
              </a:p>
              <a:p>
                <a:pPr marL="342900" indent="-342900">
                  <a:lnSpc>
                    <a:spcPts val="2600"/>
                  </a:lnSpc>
                  <a:spcAft>
                    <a:spcPts val="800"/>
                  </a:spcAft>
                  <a:buSzPct val="100000"/>
                  <a:buChar char="•"/>
                </a:pPr>
                <a:r>
                  <a:rPr lang="en-US" sz="2000" dirty="0"/>
                  <a:t>The ammeter also drops a small voltage across itself (typically 0.1–0.25V)</a:t>
                </a:r>
              </a:p>
              <a:p>
                <a:pPr marL="342900" indent="-342900">
                  <a:lnSpc>
                    <a:spcPts val="2600"/>
                  </a:lnSpc>
                  <a:spcAft>
                    <a:spcPts val="800"/>
                  </a:spcAft>
                  <a:buSzPct val="100000"/>
                  <a:buChar char="•"/>
                </a:pPr>
                <a:r>
                  <a:rPr lang="en-US" sz="2000" dirty="0"/>
                  <a:t>Never connect an ammeter directly across a voltage source. With almost no resistance, it acts like a short circuit.</a:t>
                </a:r>
              </a:p>
              <a:p>
                <a:pPr marL="342900" indent="-342900">
                  <a:lnSpc>
                    <a:spcPts val="2600"/>
                  </a:lnSpc>
                  <a:spcAft>
                    <a:spcPts val="800"/>
                  </a:spcAft>
                  <a:buSzPct val="100000"/>
                  <a:buChar char="•"/>
                </a:pPr>
                <a:r>
                  <a:rPr lang="en-US" sz="2000" dirty="0"/>
                  <a:t>The massive current will destroy the meter.</a:t>
                </a:r>
              </a:p>
            </p:txBody>
          </p:sp>
        </mc:Choice>
        <mc:Fallback>
          <p:sp>
            <p:nvSpPr>
              <p:cNvPr id="5" name="Text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640" y="1280160"/>
                <a:ext cx="8046720" cy="3474720"/>
              </a:xfrm>
              <a:prstGeom prst="rect">
                <a:avLst/>
              </a:prstGeom>
              <a:blipFill>
                <a:blip r:embed="rId3"/>
                <a:stretch>
                  <a:fillRect l="-833" t="-877" r="-833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Multimeter — Internal Structure (Fig. 2.57)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/home/claude/orig_images/slide46_Picture_4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179094" y="1188720"/>
            <a:ext cx="7050505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371600"/>
            <a:ext cx="82296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dirty="0">
                <a:solidFill>
                  <a:srgbClr val="000000"/>
                </a:solidFill>
                <a:latin typeface="Calibri"/>
              </a:rPr>
              <a:t>End of Lecture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>
                <a:solidFill>
                  <a:srgbClr val="666666"/>
                </a:solidFill>
                <a:latin typeface="Calibri"/>
              </a:rPr>
              <a:t>Questions?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32184" y="4754880"/>
            <a:ext cx="328936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en-US" sz="1100" dirty="0">
                <a:solidFill>
                  <a:srgbClr val="666666"/>
                </a:solidFill>
                <a:latin typeface="Calibri"/>
              </a:rPr>
              <a:t>50</a:t>
            </a:r>
            <a:endParaRPr sz="1100" dirty="0">
              <a:solidFill>
                <a:srgbClr val="666666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348</TotalTime>
  <Words>1672</Words>
  <Application>Microsoft Office PowerPoint</Application>
  <PresentationFormat>On-screen Show (16:9)</PresentationFormat>
  <Paragraphs>255</Paragraphs>
  <Slides>50</Slides>
  <Notes>46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50</vt:i4>
      </vt:variant>
    </vt:vector>
  </HeadingPairs>
  <TitlesOfParts>
    <vt:vector size="56" baseType="lpstr">
      <vt:lpstr>Arial</vt:lpstr>
      <vt:lpstr>Calibri</vt:lpstr>
      <vt:lpstr>Calibri Light</vt:lpstr>
      <vt:lpstr>Consolas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Electronics – Lecture 2: Electrical Circuits</dc:title>
  <dc:subject>PptxGenJS Presentation</dc:subject>
  <dc:creator>Instructional Design</dc:creator>
  <cp:lastModifiedBy>Roger Kwao Ahiadorme</cp:lastModifiedBy>
  <cp:revision>16</cp:revision>
  <dcterms:created xsi:type="dcterms:W3CDTF">2026-02-23T05:15:40Z</dcterms:created>
  <dcterms:modified xsi:type="dcterms:W3CDTF">2026-02-27T04:05:17Z</dcterms:modified>
</cp:coreProperties>
</file>