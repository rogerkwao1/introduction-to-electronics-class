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08" r:id="rId21"/>
    <p:sldId id="309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310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5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: Sensors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role of sensors in converting physical properties to electrical signals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precision, accuracy, and resolution in sensor measurements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principles and importance of sensor calibration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temperature sensor types: thermistors, thermocouples, RTDs, and IC sensors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proximity and touch sensing technologies including resistive touch screens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sensors for motion, chemical detection, light, and GPS positioning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Principles of Sensing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concepts that underpin all sensor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Sensors?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are devices that measure a physical property such as temperature, humidity, or stress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electronics, the goal is to convert these measurements into electrical signals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sensors provide an analog output — a voltage proportional to the measured property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are digital devices that transmit data about the property directly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cases, sensor readings are often the input to a microcontroller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stretches to include systems like GPS that locate position in space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Overview — Physical Stimuli to Electrical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25830"/>
            <a:ext cx="68580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Sensors Are Used in Circuits (Fig. 6.2)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45870"/>
            <a:ext cx="64008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777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Sensors (Fig. 6.1)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00150"/>
            <a:ext cx="68580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22351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Sensors (Fig. 6.1 continued)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45870"/>
            <a:ext cx="68580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777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 (continued)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Accuracy, and Resolution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the number of digits (or bits) reported by the sensor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how close the reading is to the true value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can be very precise but inaccurate (e.g., scales showing 85.7 kg when true weight is 92.1 kg)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— the finest increment the sensor can distinguish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Digital: 8 bits = 1 in 256, 12 bits = 1 in 4096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Analog: readings are continuous but limited by instrument markings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does not guarantee high accuracy — calibration bridges the gap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Example — Ruler with 1 cm Resolution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25346"/>
            <a:ext cx="5486400" cy="2441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Effect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observing a property can change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measuring tyre pressure with a conventional gauge releases a small amount of air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sensors, this change has a negligible effect on the reading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keeping in mind when deciding whether a measurement reflects the true value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sensors generally minimise the observer effect through high-impedance inputs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compares sensor readings against a known, accurate standard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calibrating a temperature sensor with boiling distilled water at 100°C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are compensated using lookup tables: raw ADC values mapped to true values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between table entries assumes small, locally linear segments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IC sensors are individually calibrated during manufacture, with values stored in ROM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Mass-produced consumer items often skip individual calibration to reduce cost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Specialised, high-value equipment typically requires per-unit calibration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Curve (Fig. 6.3)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13866"/>
            <a:ext cx="5486400" cy="3904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2097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6.3 — Actual reading vs. raw value for a fictional sensor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Thermistors, thermocouples, and IC-based solutions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Sensors —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types of sensors in electronics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and equipment sense their own temperature to prevent overheating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Thermostats keep temperature constant by controlling power to a load (on/off switching)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sensor families: thermistors, thermocouples, resistive temperature detectors(RTDs), analog ICs, digital ICs, and infrared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required range, accuracy, cost, and interface complexity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 Types (Fig. 6.4)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4258"/>
            <a:ext cx="7315200" cy="2203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5940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6.4 — Temperature sensors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Thermistors — NTC and PTC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“Thermistor” = thermal + resistor: a resistor whose value changes markedly with temperature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(Negative Temperature Coefficient) — resistance decreases as temperature increases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(Positive Temperature Coefficient) — resistance increases as temperature increases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is the more common type in practice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resistance–temperature relationship is highly non-linear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over 0–100°C, a linear approximation introduces considerable errors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Thermistor Curve (Fig. 6.5)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245870"/>
            <a:ext cx="50292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777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6.5 — Resistance vs. temperature for an NTC thermistor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Thermistor Behaviour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BulletBox"/>
          <p:cNvSpPr txBox="1"/>
          <p:nvPr/>
        </p:nvSpPr>
        <p:spPr>
          <a:xfrm>
            <a:off x="609600" y="1171749"/>
            <a:ext cx="7680960" cy="3743149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 The Steinhart-Hart equation is used to determine the temperature as a function of the thermistor’s resistance. 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It works for both NTC and PTC devices </a:t>
            </a:r>
          </a:p>
          <a:p>
            <a:pPr marL="228600" indent="-228600" algn="l">
              <a:buChar char="•"/>
            </a:pPr>
            <a:endParaRPr lang="en-US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28600" indent="-228600" algn="l">
              <a:buChar char="•"/>
            </a:pPr>
            <a:endParaRPr lang="en-US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28600" indent="-228600" algn="l">
              <a:buChar char="•"/>
            </a:pPr>
            <a:endParaRPr lang="en-US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28600" indent="-228600" algn="l">
              <a:buChar char="•"/>
            </a:pPr>
            <a:endParaRPr lang="en-US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28600" indent="-228600" algn="l">
              <a:buChar char="•"/>
            </a:pPr>
            <a:endParaRPr lang="en-US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 where T is temperature in Kelvin; R is resistance in ohms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A, B, and C are constants specific to the thermistor (from manufacturer)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The manufacturer of the thermistor will supply the constant values in a data sheet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FE05C7-4DD9-F268-77F0-B8C71129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38" y="2181143"/>
            <a:ext cx="4224484" cy="8621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en-US" sz="2800" b="1" dirty="0">
                <a:solidFill>
                  <a:srgbClr val="333333"/>
                </a:solidFill>
                <a:latin typeface="Calibri"/>
                <a:cs typeface="Calibri"/>
              </a:rPr>
              <a:t>Beta Parameter Model (Eq. 6.2)</a:t>
            </a:r>
          </a:p>
        </p:txBody>
      </p:sp>
      <p:sp>
        <p:nvSpPr>
          <p:cNvPr id="4" name="Line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BulletBox"/>
          <p:cNvSpPr txBox="1"/>
          <p:nvPr/>
        </p:nvSpPr>
        <p:spPr>
          <a:xfrm>
            <a:off x="731520" y="1100000"/>
            <a:ext cx="7680960" cy="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An alternative model using a single Beta parameter and reference values T₀ and R₀:</a:t>
            </a:r>
          </a:p>
        </p:txBody>
      </p:sp>
      <p:pic>
        <p:nvPicPr>
          <p:cNvPr id="2" name="Picture 1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448" y="2153055"/>
            <a:ext cx="4390912" cy="500000"/>
          </a:xfrm>
          <a:prstGeom prst="rect">
            <a:avLst/>
          </a:prstGeom>
        </p:spPr>
      </p:pic>
      <p:sp>
        <p:nvSpPr>
          <p:cNvPr id="6" name="BulletBox"/>
          <p:cNvSpPr txBox="1"/>
          <p:nvPr/>
        </p:nvSpPr>
        <p:spPr>
          <a:xfrm>
            <a:off x="646176" y="2990445"/>
            <a:ext cx="7680960" cy="2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T₀ is usually 25°C (298.15 K); R₀ is the resistance at T₀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Beta (β) is a single constant provided by the manufacturer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Simpler than Steinhart-Hart but less accurate over wide ranges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Widely used in practical thermistor circuits due to its simplicity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en-US" sz="1000" b="0" dirty="0">
                <a:solidFill>
                  <a:srgbClr val="999999"/>
                </a:solidFill>
                <a:latin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en-US" sz="2800" b="1" dirty="0">
                <a:solidFill>
                  <a:srgbClr val="333333"/>
                </a:solidFill>
                <a:latin typeface="Calibri"/>
                <a:cs typeface="Calibri"/>
              </a:rPr>
              <a:t>Deriving Resistance from Temperature (Eq. 6.3)</a:t>
            </a:r>
          </a:p>
        </p:txBody>
      </p:sp>
      <p:sp>
        <p:nvSpPr>
          <p:cNvPr id="4" name="Line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" name="Picture 1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143011"/>
            <a:ext cx="5376672" cy="1886189"/>
          </a:xfrm>
          <a:prstGeom prst="rect">
            <a:avLst/>
          </a:prstGeom>
        </p:spPr>
      </p:pic>
      <p:sp>
        <p:nvSpPr>
          <p:cNvPr id="5" name="BulletBox"/>
          <p:cNvSpPr txBox="1"/>
          <p:nvPr/>
        </p:nvSpPr>
        <p:spPr>
          <a:xfrm>
            <a:off x="731520" y="3029200"/>
            <a:ext cx="7680960" cy="2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Rearranging the Beta equation gives resistance R as a function of temperature T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Useful for calculating expected resistance at a given temperature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The manufacturer’s data sheet provides Beta, T₀, R₀, plus the valid temperature range</a:t>
            </a:r>
          </a:p>
          <a:p>
            <a:pPr marL="228600" indent="-228600" algn="l">
              <a:buChar char="•"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Allows verification of thermistor readings against expected values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en-US" sz="1000" b="0" dirty="0">
                <a:solidFill>
                  <a:srgbClr val="999999"/>
                </a:solidFill>
                <a:latin typeface="Calibr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Thermistor as a Thermometer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voltage divider converts the thermistor’s resistance change into a measurable voltage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resistor R₁ is chosen equal to R₀ (resistance at 25°C)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voltage Vout is fed to the microcontroller’s ADC input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temperature rises, NTC resistance drops → </a:t>
            </a:r>
            <a:r>
              <a:rPr lang="en-US" sz="18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V_out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proportionally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ADC converts the analog voltage into a digital value for software processing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then applies the Steinhart-Hart or Beta equation to compute temperature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Thermistor Circuit and Symbols (Fig. 6.6)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25346"/>
            <a:ext cx="6400800" cy="3081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9831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6.6 — Using a thermistor as a thermometer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Thermistor Voltage Divider — Detail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5034"/>
            <a:ext cx="6400800" cy="2862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much higher temperatures and wider ranges than thermistors (–200 to +1350°C)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Seebeck effect: a conductor in a thermal gradient generates a small voltage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metals are joined; the junction temperature is measured via the voltage across the leads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“cold-junction” temperature at the far end must also be measured (often with a thermistor)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 convert the voltage and cold-junction temperature to absolute temperature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alloys: chromel (90% Ni, 10% Cr) and alumel (95% Ni, 2% Mn, 2% Al, 1% Si)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approximately 41 µV/°C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 Principle (Fig. 6.7)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437894"/>
            <a:ext cx="5486400" cy="3456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8576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6.7 — Thermocouples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Temperature Sensors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Temperature Detectors (RTDs) — accurate, good linearity, but expensive and slow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Output Thermometer ICs (e.g., TMP36) — simple to interface, ±2°C accuracy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Thermometer ICs (e.g., DS18B20) — easy for microcontrollers, ±0.5°C accuracy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Thermometers / Pyrometers — non-contact measurement, ±0.5°C, up to 1030°C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temperature range, accuracy needs, cost, and interface requirements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 Comparison (Table 6.1)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62990"/>
            <a:ext cx="68580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and Touch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objects and measuring distance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and Touch —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category covers detecting objects or measuring their distance from the sensor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include touch screens, ultrasonic rangefinders, and Infrared (IR) proximity sensors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screens are widely used in phones and tablets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sensors measure distance using the time-of-flight of a sound wave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sensors use infrared light reflection to detect nearby objects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sensors detect proximity through changes in the electric field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and Touch Sensors (Fig. 6.10)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8498"/>
            <a:ext cx="7315200" cy="2935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Touch Screens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older and more readily available touch screen technologies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flexible, transparent conductive sheet sits on top of the display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top and bottom surfaces are coated with a conductive layer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Insulating micro-dots keep layers apart until pressed together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pressed, the layers make contact, forming a voltage divider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conductive layer acts like a potentiometer, with the touch point as the wiper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Touch Screen (Fig. 6.11)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245870"/>
            <a:ext cx="34747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777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6.11 — Resistive touch screen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Screen Position Measurement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X: set A = 0 V and B = 5 V; voltage at C is proportional to the X position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Y: swap — set C = 0 V and D = 5 V; voltage at A or B gives the Y position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ADC converts each voltage to a coordinate pair (X, Y)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measuring device must have high input impedance (≈ several MΩ) to avoid errors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is handled by a special-purpose controller chip or microcontroller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switching between X and Y readings gives responsive touch tracking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en-US" sz="2800" b="1" dirty="0">
                <a:solidFill>
                  <a:srgbClr val="333333"/>
                </a:solidFill>
                <a:latin typeface="Calibri"/>
                <a:cs typeface="Calibri"/>
              </a:rPr>
              <a:t>Potentiometer Analogy for Touch Screens</a:t>
            </a:r>
          </a:p>
        </p:txBody>
      </p:sp>
      <p:sp>
        <p:nvSpPr>
          <p:cNvPr id="4" name="Line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" name="Picture 1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100000"/>
            <a:ext cx="6100000" cy="2800000"/>
          </a:xfrm>
          <a:prstGeom prst="rect">
            <a:avLst/>
          </a:prstGeom>
        </p:spPr>
      </p:pic>
      <p:sp>
        <p:nvSpPr>
          <p:cNvPr id="5" name="BulletBox"/>
          <p:cNvSpPr txBox="1"/>
          <p:nvPr/>
        </p:nvSpPr>
        <p:spPr>
          <a:xfrm>
            <a:off x="731520" y="4000000"/>
            <a:ext cx="768096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228600" indent="-228600" algn="l"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The conductive layer of a resistive touch screen acts as a potentiometer</a:t>
            </a:r>
          </a:p>
          <a:p>
            <a:pPr marL="228600" indent="-228600" algn="l"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The touch point serves as the wiper, producing a voltage proportional to position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en-US" sz="1000" b="0" dirty="0">
                <a:solidFill>
                  <a:srgbClr val="999999"/>
                </a:solidFill>
                <a:latin typeface="Calibri"/>
                <a:cs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Distance Measurement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ultrasonic sender emits a burst of high-frequency sound pulses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bounce off the target and return to the receiver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calculated from the round-trip time of the sound pulse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(speed of sound × time) / 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range: a few centimetres to several metres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robotics, parking sensors, and level measurement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Distance Measurement (Fig. 6.12)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61922"/>
            <a:ext cx="5486400" cy="3008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6173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6.12 — Ultrasonic distance measurement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Distance Measurement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infrared (IR) LED emits infrared light towards the target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 sensor detects the reflected light from the obstacle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 or intensity of the reflected beam indicates the distance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electronics process the sensor signal and output a voltage or digital reading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consumer electronics, robotics, and industrial automation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range typically a few centimetres to about one metre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Distance Measurement (Fig. 6.13)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32154"/>
            <a:ext cx="3657600" cy="3867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9150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6.13 — Optical distance measurement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Sensors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conductive plate (electrode) is connected to a microcontroller through a large resistor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microcontroller sends a pulse on the “Send” pin and measures the time to charge on “Receive”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hand (or conductive object) approaches, it adds capacitance to the plate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capacitance increases the RC time constant, changing the charge time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microcontroller detects this change and interprets it as proximity or touch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touch buttons, proximity switches, and touchless interfaces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Sensing (Fig. 6.15)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55014"/>
            <a:ext cx="3657600" cy="3822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6864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6.15 — Capacitive sensing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Sensor Comparison (Table 6.2)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14450"/>
            <a:ext cx="731520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0921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6.2 — Comparing distance sensors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Force, and Pressure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physical motion and mechanical forces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Force, and Pressure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sensors detect how things are moving, bending, or being compressed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Accelerometers — detect orientation and acceleration (used in smartphones for screen rotation)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Gyroscopes — measure angular velocity and rotation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gauges — detect deformation in materials under stress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sensors — measure gas or liquid pressure (e.g., barometers, tyre monitors)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and vibration sensors — detect inclination and mechanical shock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sensors — measure applied force for scales, robotics, and industrial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and Force Sensors (Fig. 6.16)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23594"/>
            <a:ext cx="5486400" cy="3685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0006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6.16 — Movement-detecting devices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Sensors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gases, smoke, and humidity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Sensors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range of sensors exist for detecting chemicals of various kinds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detectors — ionisation or photoelectric types for fire safety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sensors — detect specific gases (CO, CO₂, methane, LPG) using heated metal-oxide elements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sensors — measure relative humidity using capacitive or resistive sensing elements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chemical sensors work by changing their electrical resistance in the presence of the target substance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typically an analog voltage that can be read by a microcontroller’s ADC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Sensors (Fig. 6.24)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31086"/>
            <a:ext cx="6858000" cy="2670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9257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6.24 — Chemical sensors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Radiation, Magnetism,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and GPS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electromagnetic and acoustic phenomena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Radiation, Magnetism, and Sound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sensors — light-dependent resistors (LDRs), photodiodes, and phototransistors detect light intensity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Ionising radiation — Geiger-Müller tubes detect radioactive emissions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field sensors — Hall effect sensors and reed switches detect magnetic fields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sensors — microphones (electret, </a:t>
            </a:r>
            <a:r>
              <a:rPr lang="en-US" sz="18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mirco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-electro mechanica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systems (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MEMS)) convert sound waves to electrical signals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these sensors are analog, requiring ADC conversion for microcontroller use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include built-in signal conditioning or digital interfaces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Radiation, and Magnetic Sensors (Fig. 6.26)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6806"/>
            <a:ext cx="7315200" cy="2578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4685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6.26 — Various sensors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Positioning System (GPS)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modules are readily available at low cost due to consumer device demand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constellation of satellites broadcasts highly accurate, synchronised time signals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 receiver measures the time difference between signals from multiple satellites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differences (due to signal travel time) are used to triangulate the receiver’s position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modules are typically a single IC with a dedicated antenna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interface transmits position updates, time, and satellite count to a microcontroller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Satellite Constellation (Fig. 6.30)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29" y="1051561"/>
            <a:ext cx="4572000" cy="3410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 (Fig. 6.31)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5_images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06474"/>
            <a:ext cx="4572000" cy="3319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1718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6.31 — Venus 638 FLPx GPS module with antenna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2379</Words>
  <Application>Microsoft Office PowerPoint</Application>
  <PresentationFormat>On-screen Show (16:9)</PresentationFormat>
  <Paragraphs>337</Paragraphs>
  <Slides>55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Sensors</dc:title>
  <dc:subject>PptxGenJS Presentation</dc:subject>
  <dc:creator>Introduction to Electronics</dc:creator>
  <cp:lastModifiedBy>Roger Kwao Ahiadorme</cp:lastModifiedBy>
  <cp:revision>8</cp:revision>
  <dcterms:created xsi:type="dcterms:W3CDTF">2026-02-28T19:15:32Z</dcterms:created>
  <dcterms:modified xsi:type="dcterms:W3CDTF">2026-04-10T08:28:00Z</dcterms:modified>
</cp:coreProperties>
</file>