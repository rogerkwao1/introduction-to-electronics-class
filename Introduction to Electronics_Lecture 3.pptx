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6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22" r:id="rId16"/>
    <p:sldId id="269" r:id="rId17"/>
    <p:sldId id="270" r:id="rId18"/>
    <p:sldId id="271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4" r:id="rId27"/>
    <p:sldId id="281" r:id="rId28"/>
    <p:sldId id="282" r:id="rId29"/>
    <p:sldId id="283" r:id="rId30"/>
    <p:sldId id="285" r:id="rId31"/>
    <p:sldId id="286" r:id="rId32"/>
    <p:sldId id="292" r:id="rId33"/>
    <p:sldId id="293" r:id="rId34"/>
    <p:sldId id="287" r:id="rId35"/>
    <p:sldId id="294" r:id="rId36"/>
    <p:sldId id="295" r:id="rId37"/>
    <p:sldId id="290" r:id="rId38"/>
    <p:sldId id="291" r:id="rId39"/>
    <p:sldId id="296" r:id="rId40"/>
    <p:sldId id="297" r:id="rId41"/>
    <p:sldId id="298" r:id="rId42"/>
    <p:sldId id="299" r:id="rId43"/>
    <p:sldId id="300" r:id="rId44"/>
    <p:sldId id="288" r:id="rId45"/>
    <p:sldId id="289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2" r:id="rId57"/>
    <p:sldId id="311" r:id="rId58"/>
    <p:sldId id="323" r:id="rId59"/>
    <p:sldId id="313" r:id="rId60"/>
    <p:sldId id="324" r:id="rId61"/>
    <p:sldId id="321" r:id="rId62"/>
    <p:sldId id="314" r:id="rId63"/>
    <p:sldId id="315" r:id="rId64"/>
    <p:sldId id="316" r:id="rId65"/>
    <p:sldId id="317" r:id="rId66"/>
    <p:sldId id="318" r:id="rId6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33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E4781-8D16-1138-4134-4E0D339C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E48B0-53C2-7F88-70A8-5AA5B403D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7D9B6-4149-FEEA-036B-E1EF3575B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FC5C2-1BB9-1CC0-D0F7-F907661D1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23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77A4-2662-1895-2475-C740FE90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A9564-62DD-B15E-521A-0D9E80917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D455E-547C-547A-7880-4F1B2CD89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06686-A3E2-03E6-51A1-F30D599BB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4847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38CB-97B8-3E52-EFF0-CD8A3A92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F58E5-26B5-7988-58B1-3C4428CCA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0D0EF-3CAA-2BD8-867E-145A82DCA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8C919-02DF-2B06-D109-141D569BA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448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2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7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7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4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83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9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6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2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02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6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7FC1D-62A8-4223-B159-2770BD25E6D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8C70B-4083-419D-92C6-3714A4EFD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4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: AC Circuits, Kirchhoff’s Laws &amp; RMS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open and short circuit conditions and understand protection devices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Kirchhoff’s Voltage Law (KVL) and Current Law (KCL) to complex circuits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AC fundamentals: generation, waveforms, and why AC matters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AC waveform properties: amplitude, frequency, period, and phase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RMS voltage and current; apply AC Ohm’s Law and power law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measurement of RMS values using different meter types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Short Circuits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faults in circuits and how to protect against them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Short Circuits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circuit faults are open circuits and short circuits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circuit causes excessive current flow through all or part of a circuit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may blow a fuse or burn out a component, resulting in an open-circuit condition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circuit is a break in the circuit that prevents current from flowing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circuits may be caused by wire crossing, insulation failure, or solder splatter linking two separate conductors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Circuits and Fuses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circuit may result from wire or component lead separation, or from a burned-out component creating a huge resistance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fuse is used in the circuit and will blow when the current exceeds its rating (given in amps)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2.59 shows cases of open- and short-circuit conditions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Short Circuit Conditions (Fig. 2.59)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084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Circuit Behavior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components are ideal, an infinite current flows when an ideal voltage source is short-circuited  while the voltage across the short goes to zero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voltage sources have internal resistance, so maximum current is reduced . But there is still enough current to cause damage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diagnose a short circuit by noting a burning smell or sensing overheating components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devices include fuses, transient voltage suppressors, and circuit breakers can be used to prevent short circuits from destroying circuits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devices sense excessive current and blow/trip, creating an open-circuit to limit damage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Circuit Examples (Fig. 2.60)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136" y="1280160"/>
            <a:ext cx="5967984" cy="2133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470DA0-514A-C0DA-FFC9-14257B3B7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573" y="3653660"/>
            <a:ext cx="5350547" cy="1101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Circuit — Normal, Open, and Short (Fig. 2.61)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Behavior in Parallel Circuits (Fig. 2.62)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8" y="1188720"/>
            <a:ext cx="699211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Laws for Complex Circuits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general method for analyzing any circuit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Kirchhoff’s Laws?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you will encounter circuits that cannot be analyzed with simple resistor reduction alone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find equivalent resistance, you may not be able to find individual currents and voltages through each component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multiple sources or complex resistor networks, Ohm’s law and divider equations may not be sufficient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laws provide the most general method for analyzing any circuit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for linear elements (resistors, capacitors, inductors) and nonlinear elements (diodes, transistors), no matter how complex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Voltage Law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431024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Voltage Law (KVL):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algebraic sum of the voltages around any loop of a circuit is zero</a:t>
            </a:r>
          </a:p>
          <a:p>
            <a:pPr>
              <a:spcAft>
                <a:spcPts val="1000"/>
              </a:spcAft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KVL is a statement about conservation of energy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2893313"/>
            <a:ext cx="7181088" cy="19385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C1742-903B-BE05-BB1F-C760C59D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DEDE0D-F266-EE45-D4BA-3C0D592F4A27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D2EBB0-4F4E-FB54-4ACB-13C493281DA7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Current Law 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2AA162-9AB1-BF43-F4B0-84E4C85C0348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62FD6C-E358-321C-3698-90FEF0E1F4CB}"/>
              </a:ext>
            </a:extLst>
          </p:cNvPr>
          <p:cNvSpPr/>
          <p:nvPr/>
        </p:nvSpPr>
        <p:spPr>
          <a:xfrm>
            <a:off x="548640" y="1280160"/>
            <a:ext cx="7205472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Current Law (KCL):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of the currents that enter a junction equals the sum of the currents that leave the junction</a:t>
            </a:r>
            <a:endParaRPr lang="en-US" sz="1800" dirty="0"/>
          </a:p>
          <a:p>
            <a:pPr>
              <a:buSzPct val="100000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KCL is a statement about conservation of charge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258D7-FA37-8F10-8BBD-F0EFEE56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97" y="2657856"/>
            <a:ext cx="7205472" cy="18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16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KVL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electric charge starts anywhere in a circuit and goes through any loop back to its starting point, the net change in potential is zero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anywhere along the circuit path and choose a direction (clockwise or counterclockwise — it doesn’t matter)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you encounter a circuit element, add its voltage to the loop equation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loop trace rules to determine the sign of each voltage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return to the start, set the sum equal to zero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KVL Loop Trace Example (Fig. 2.63)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KVL for Any Circuit Elements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Kirchhoff’s voltage law applies to any circuit elements — both linear and nonlinear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applied to circuits with capacitors, inductors, diodes, and sinusoidal sources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expressions may be complex differential equations, but the law still holds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there are simpler tricks for solving such circuits, but KVL demonstrates universality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Kirchhoff’s Laws — Example (Fig. 2.65)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6858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Equations, Six Unknowns (Fig. 2.66)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Circuits with Kirchhoff’s Laws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KVL to enough closed loops and KCL to enough junctions to get enough equations for the unknowns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it is simply a matter of algebra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 as you have an equal number of equations and unknowns, you can solve for all values</a:t>
            </a: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dirty="0"/>
              <a:t>In Fig. 2.66, there are six equations and six unknowns.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methods: (1) Substitution  - combine equations and solve one unknown at a time; (2) Matrices; (3) Computational tools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Circuits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sources, generation, and why AC is essential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AC Circuits?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is a complete conductive path: electrons flow from source to load and back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DC circuits, electrons flow in only one direction, producing direct current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alternating source causes current to periodically change direction — this is alternating current (AC)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AC circuit, both current and voltage periodically reverse direction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Circuit vs. AC Circuit (Fig. 2.77)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138160" cy="104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 circuit is powered by a sinusoidal source  generating a repetitive sine wave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may vary from a few cycles/second to billions, depending on the application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Positive/negative swings simply mean the EMF has switched direction, flipping polarity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76" y="2104644"/>
            <a:ext cx="5477256" cy="29245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AC Voltage Swings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swings relative to a zero-volt reference mean the source EMF has switched directions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polarity of the voltage source flips, forcing current to change direction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voltage at any instant is measured from the 0 V reference to the point on the sine wave at that time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AC Important?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conversion of circular mechanical motion into induced current via generators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or integrating a sinusoid yields another sinusoid. Applying sinusoidal voltage to capacitors and inductors gives a sinusoidal current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can increase or decrease AC voltage efficiently (at the expense of current)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DC, transformers are useless. Changing voltage involves resistive power losses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are very efficient, and little power is lost in the voltage conversion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way to generate sinusoidal waveforms is electromagnetic induction via an AC generator (alternator)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of wire rotates mechanically between north and south poles of a magnet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loop rotates, the magnetic flux changes, inducing a voltage in the wire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flux is a function of the loop angle relative to the magnetic field, producing a sinusoidal voltage with angular frequency ω (rad/s)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AC Generator (Fig. 2.78)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Ways to Generate AC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generators: Convert mechanical energy into electrical energy. Real AC generators are more complex but operate under the same laws of induction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Transducers:  Convert physical signal to electrical signal.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microphones can also generate AC signals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oscillators: C</a:t>
            </a:r>
            <a:r>
              <a:rPr lang="en-US" dirty="0"/>
              <a:t>onvert DC power into periodic AC signals. 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DC-powered oscillator circuits use inductive and capacitive effects to cause current to resonate back and forth between an inductor and a capacitor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Pulsating DC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current and voltage never change direction, it is still DC even if the level constantly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that is always positive but varies periodically is called “pulsating DC”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periodically reaches zero, it is “intermittent DC”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Pulsating DC can be viewed as a combination of AC and DC components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circuits can separate the two components for separate analysis or use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Pulsating and Intermittent DC (Fig. 2.80)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8580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AC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/>
              <a:t>In circuit analysis, we often use ideal sources that maintain a specified waveform regardless of the load connected to them.</a:t>
            </a:r>
            <a:endParaRPr lang="en-US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ideal sinusoidal voltage source maintains its voltage regardless of load — supplies as much current as needed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ideal sinusoidal current source maintains its current regardless of load resistance — supplies as much voltage as needed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create ideal sources of other waveforms (square, triangular, etc.)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lab, a function generator produces a wide variety of waveforms with varying amplitudes and frequencies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Source Symbols (Fig. 2.83)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6400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Waveforms and Properties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frequency, period, phase, and common waveform shapes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an AC Waveform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AC description involves three properties: amplitude, frequency, and phase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2.84 shows a sine wave and its relationship to circular rotation through 360°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Voltage/current varies with the sine of the rotation angle relative to the zero point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sin(90°) = 1 → maximum value;  sin(270°) = −1 → maximum reverse value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sin(45°) = 0.707 → the value at 45° is 0.707 × peak value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Waveform and Rotation (Fig. 2.84)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Waveform Shapes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can take many wave shapes besides sinusoidal (Fig. 2.82)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waves are vital to digital electronics. The states are either true (on) or false (off)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and ramp (sawtooth) waves are useful in timing circuits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Fourier analysis, any periodic waveform can be created by summing sine waves together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AC Waveforms (Fig. 2.82)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Period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continuously rotating generator produces AC that passes through many cycles over time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complete cycles per second is the frequency (measured in hertz, Hz)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 (T) is the time for one complete cycle: T = 1/f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prefixes: 1 kHz = 1,000 Hz; 1 MHz = 10⁶ Hz; 1 GHz = 10⁹ Hz; 1 THz = 10¹² Hz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prefixes: ms (10⁻³ s), μs (10⁻⁶ s), ns (10⁻⁹ s), ps (10⁻¹² s)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Period Relationships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3328416"/>
            <a:ext cx="4596384" cy="16687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2" y="1108710"/>
            <a:ext cx="6888480" cy="221970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horizontal axis of an AC graph represents time, but each cycle can be divided into 360°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starting point is 0° — the zero crossing as voltage begins its positive half cycle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positive peak occurs at 90° during each cycle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relationships compare two AC waveforms at the same frequency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waveform B crosses zero after A, B lags A (equivalently, A leads B)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 degrees makes calculations independent of frequency (Fig. 2.85)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Relationships (Fig. 2.85)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— Special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sine waves of the same frequency always produces a sine wave of the same frequency (with unique magnitude and phase)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lags A by 45° (A leads B by 45°): waveforms add to a composite at an intermediate phase angle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phase difference (Fig. 2.85c): one waveform peaks when the other crosses zero (quadrature)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 out of phase (Fig. 2.85d): one is always positive when the other is negative — if equal, they completely cancel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differences are crucial for understanding AC circuit behavior with capacitors and inductors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Sinusoidal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Besides combining AC and DC, we can combine separate AC voltages and currents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combinations produce complex waveforms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 waveforms close in frequency produce a beat pattern when combined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 waveforms dissimilar in frequency and amplitude produce irregular composite waveforms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AC Waveforms (Fig. 2.81)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and Resistors, RMS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values and the AC equivalents of Ohm’s Law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Voltage Across a Resistor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voltage across a resistor produces alternating current in phase with the voltage (Fig. 2.86)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sinusoidal waveform: 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voltage rise and fall together — they are in phase for purely resistive loads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load has capacitance or inductance, current and voltage will NOT be in phase</a:t>
            </a: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1D576-10DB-BA50-865A-D1940EB9BD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52" b="4283"/>
          <a:stretch/>
        </p:blipFill>
        <p:spPr>
          <a:xfrm>
            <a:off x="1786505" y="2236851"/>
            <a:ext cx="5570989" cy="149885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Voltage and Current in a Resistor (Fig. 2.86)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Power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Plugging the sinusoidal voltage into the power law: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instantaneous power at any specific time 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often do you need the power at exactly t = 1.3 s? When do you start counting?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values are typically inconvenient for practical use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averaging scheme to calculate effective power dissipation</a:t>
            </a: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D536E-6AF2-40F7-7590-B47B295C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173" y="1792224"/>
            <a:ext cx="4997378" cy="77952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Average?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try averaging the sinusoidal voltage over a complete cycle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average of a sine wave over one cycle is zero — positive and negative halves cancel!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confusing for power, since both halves deliver energy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better measure: the RMS (Root Mean Square) value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— Root Mean Square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the instantaneous values → take the mean (average) → take the square root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values don’t average to zero and are the AC equivalent of DC voltages/currents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is based on equating AC and DC power needed to heat a resistive element to the same degree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 power is twice the equivalent DC power, so average AC power = ½ peak AC power</a:t>
            </a:r>
            <a:endParaRPr lang="en-US" sz="1700" dirty="0"/>
          </a:p>
          <a:p>
            <a:pPr>
              <a:spcAft>
                <a:spcPts val="600"/>
              </a:spcAft>
              <a:buSzPct val="100000"/>
            </a:pP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Derivation and Formulas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08" y="1097280"/>
            <a:ext cx="6303264" cy="37718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in Practice — Household AC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utilities provide 60 Hz, 120 V AC (Europe: 50 Hz, 240 V AC)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“VAC” unit means the supplied voltage is given in RMS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oscilloscope: V(t) = 170 V sin(2π × 60 Hz × t), where 170 V is the peak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Ohm’s Law:</a:t>
            </a:r>
            <a:endParaRPr lang="en-US" sz="1700" dirty="0"/>
          </a:p>
          <a:p>
            <a:pPr marL="0" indent="0" algn="ctr">
              <a:spcAft>
                <a:spcPts val="1000"/>
              </a:spcAft>
              <a:buNone/>
            </a:pPr>
            <a:endParaRPr lang="en-US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spcAft>
                <a:spcPts val="10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Power Law: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9A8FF-D09E-C97B-441F-7D1C55A56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1" y="2721788"/>
            <a:ext cx="4446015" cy="591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90DBA8-0E1B-85B3-29FB-B9E27A001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884" y="3863339"/>
            <a:ext cx="4172812" cy="78673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 on AC Laws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AC Ohm’s law and power law equations apply only to purely resistive circuits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with capacitance and/or inductance require more complex power calculations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able to convert between RMS, peak, peak-to-peak, and half-wave average values is essential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especially important for component voltage and current ratings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time, AC voltage is expressed as RMS unless otherwise stated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RMS, Peak, and Peak-to-Peak Relationships (Fig. 2.87)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— Calculations (Fig. 2.88)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— AC Power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 Ω resistor connected across a 120 VAC outlet dissipates P = V²/R = 120²/100 = 144 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try this with an ordinary resistor — you’d need a power resistor rated above 144 W!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1,000 Ω resistor: P = 14.4 W; a 10,000 Ω resistor: P = 1.44 W; a 100,000 Ω resistor: P = 0.14 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voltage on oscilloscope: V_peak = V_RMS × √2 = 120 × 1.414 = 170 V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75D2E-9B14-07D1-C47C-6BCEBA78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B73929-40CB-703A-888C-02547BC48524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7645E8-0A70-33A1-C605-3395629F9CC8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Worked Examples – Example 2 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10EDC3-37D6-D413-7E88-C9F2585CB055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2A489E-BD73-7B23-4970-60D0DAA3151C}"/>
              </a:ext>
            </a:extLst>
          </p:cNvPr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9C9DB3-12E6-EE0A-486A-106D06A9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738" y="1748091"/>
            <a:ext cx="5512684" cy="117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549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Worked Examples – Example 3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594F6-F131-8717-3441-C3AF7E490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5" y="1505713"/>
            <a:ext cx="7889505" cy="87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4F187F-6A32-C0E7-73F3-3AC18666D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963" y="2571750"/>
            <a:ext cx="5306111" cy="100354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2CA4C-912D-CFAD-24A3-9D8B22D8A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BF46CF-4ED9-B20B-4653-E0A884C0B9F6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7F843E-670C-E4BA-EAE8-655474CD2DE6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Worked Examples – Example 4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968D11-D1C4-E6C1-88B6-EB14D357B589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498CB-8080-667C-D301-090F9585A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31" y="1707491"/>
            <a:ext cx="8574538" cy="172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18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ageNum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Text Title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Worked Examples (continued)</a:t>
            </a:r>
            <a:endParaRPr lang="en-US" sz="3200" dirty="0"/>
          </a:p>
        </p:txBody>
      </p:sp>
      <p:sp>
        <p:nvSpPr>
          <p:cNvPr id="12" name="Shape Line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51951" cy="15581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20000"/>
            <a:ext cx="7379129" cy="11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339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RMS Voltages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Currents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meters work and their limitations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RMS Voltages and Currents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digital multimeters do NOT measure RMS directly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often measure the peak value and calculate the equivalent RMS assuming a sinusoidal waveform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meters usually measure the half-wave average but indicate the equivalent RMS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RMS multimeters measure the actual RMS value — especially useful for non-sinusoidal signals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RMS meters also include the contribution of any DC components present with the AC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Conversion 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estimate RMS values from other measurements (peak, peak-to-peak, half-wave average) using conversion factors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sine wave: V_RMS = 0.707 × V_peak = 0.354 × V_pk-pk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square waves and triangular waves, the conversion factors are different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know how your meter makes its measurement — peak-based or average-based — to use tables correctly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care when measuring non-sinusoidal waveforms with non-true-RMS meters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Factors for AC Values (Fig. 2.89)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2889</Words>
  <Application>Microsoft Office PowerPoint</Application>
  <PresentationFormat>On-screen Show (16:9)</PresentationFormat>
  <Paragraphs>369</Paragraphs>
  <Slides>65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Electronics - Lecture 3</dc:title>
  <dc:subject>PptxGenJS Presentation</dc:subject>
  <dc:creator>Introduction to Electronics</dc:creator>
  <cp:lastModifiedBy>Roger Kwao Ahiadorme</cp:lastModifiedBy>
  <cp:revision>9</cp:revision>
  <dcterms:created xsi:type="dcterms:W3CDTF">2026-02-27T14:17:18Z</dcterms:created>
  <dcterms:modified xsi:type="dcterms:W3CDTF">2026-03-13T03:57:37Z</dcterms:modified>
</cp:coreProperties>
</file>