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5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308" r:id="rId16"/>
    <p:sldId id="269" r:id="rId17"/>
    <p:sldId id="270" r:id="rId18"/>
    <p:sldId id="271" r:id="rId19"/>
    <p:sldId id="309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14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7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8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0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85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63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55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1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33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088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02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01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05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48122-84E1-41C2-B752-837DA9069AF0}" type="datetimeFigureOut">
              <a:rPr lang="en-US" smtClean="0"/>
              <a:t>26-Mar-26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5B559-2255-4A9A-8619-8DE1AADB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8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: Passive Components — Resistors &amp; Capacitors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resistor types and read their value labels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real resistor characteristics and selection criteria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functions of capacitors: energy storage, coupling, and decoupling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equivalent capacitance for series and parallel combinations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RC time constant to charging and discharging circuits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capacitive reactance and its frequency dependence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 in Practice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functions, and how to read their values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 Functions in Circuits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 perform two basic functions: limit current flow and set voltage levels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 kinds available: fixed, variable, digitally adjustable, fusible, photoresistors, and resistor arrays (networks)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electrical energy into heat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virtually every electronic circuit, from simple LED drivers to precision amplifiers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 Types — Schematic Symbols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0754"/>
            <a:ext cx="8229600" cy="297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4345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Limiting — The LED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series resistor, excess current can melt an LED’s sensitive p-n junction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resistor placed in series limits the current to a safe operating level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resistor (potentiometer) can be added for adjustable current limiting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the pot controls the LED brightness — a practical demonstration of Ohm’s Law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Division Application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resistors form a voltage divider, providing a fraction of the input voltage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12 V reduced to 5 V — a usable logic HIGH for a microcontroller input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photoresistor can replace one divider resistor: as light increases, its resistance drops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changing resistance shifts the output voltage, allowing light-level sensing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from Lecture 2:  Vout = Vs × R₂ / (R₁ + R₂)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Current Limiting and Voltage Division (Fig. 3.48)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07642"/>
            <a:ext cx="7955280" cy="2916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Applications of Resistors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operating current and signal levels in circuits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voltage reduction and setting precise gain values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as shunts in ammeters and voltage meters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Damping agents in oscillators and timer circuits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and line terminators in digital circuits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Pull-up and pull-down elements, feedback networks, attenuators, and bridge circuits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fusible resistors serve as built-in fuses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Resistor Labels — Color Codes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Axial-lead resistors (carbon composition, carbon film, metal film) use color bands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Four-band system: 1st = 1st digit, 2nd = 2nd digit, 3rd = multiplier (×10ⁿ), 4th = tolerance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fourth band means ±20% tolerance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color maps to a digit (0–9), a multiplier, and a tolerance value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Brown–Black–Red–Gold = 1, 0, ×10² = 1 kΩ ± 5%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 Labels — Complete Reference (Fig. 3.52)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017270"/>
            <a:ext cx="6217920" cy="38976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17779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3.52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Four-Band Resistor Color 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02970"/>
            <a:ext cx="6858000" cy="388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 Color Code — Band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072134"/>
            <a:ext cx="3657600" cy="35478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 Color Code — Worked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TopLeft" descr="4-band resistor color cod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0000"/>
            <a:ext cx="4000000" cy="1700000"/>
          </a:xfrm>
          <a:prstGeom prst="rect">
            <a:avLst/>
          </a:prstGeom>
        </p:spPr>
      </p:pic>
      <p:pic>
        <p:nvPicPr>
          <p:cNvPr id="11" name="Image TopRight" descr="330 ohm resistor color code exam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00" y="1050000"/>
            <a:ext cx="4000000" cy="1700000"/>
          </a:xfrm>
          <a:prstGeom prst="rect">
            <a:avLst/>
          </a:prstGeom>
        </p:spPr>
      </p:pic>
      <p:pic>
        <p:nvPicPr>
          <p:cNvPr id="12" name="Image BotLeft" descr="Guide to color code of resis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00000"/>
            <a:ext cx="4000000" cy="1900000"/>
          </a:xfrm>
          <a:prstGeom prst="rect">
            <a:avLst/>
          </a:prstGeom>
        </p:spPr>
      </p:pic>
      <p:pic>
        <p:nvPicPr>
          <p:cNvPr id="13" name="Image BotRight" descr="2.2k ohm resistor color code examp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00" y="2900000"/>
            <a:ext cx="4000000" cy="1900000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Five-Band and SMD Resistor Codes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Five-band precision: first three bands = significant digits, 4th = multiplier, 5th = tolerance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Military-spec five-band: 5th band indicates reliability (% change over 1000 hrs: brown = 1%, red = 0.1%, orange = 0.01%, yellow = 0.001%)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 three-digit code: first two digits = significant figures, last digit = multiplier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values &lt; 100 Ω, “R” replaces a digit as a decimal point (e.g., 1R0 = 1.0 Ω)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 four-digit code: first three = significant figures, last = multiplier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letter may indicate tolerance (e.g., F = ±1%)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Five-Band and SMD Code Reference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48106"/>
            <a:ext cx="7772400" cy="3995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 Resistor Code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1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19200"/>
            <a:ext cx="6425184" cy="36842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 Resistors on a Real PCB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64" y="1257300"/>
            <a:ext cx="6583680" cy="35745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— Resistor Body Color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color usually does not carry significant meaning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— white and blue body colors mark nonflammable and fusible resistors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resistors are designed not to catch fire when they overheat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Fusible resistors cut current like a fuse when overheated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replace a white- or blue-bodied resistor with a normal resistor — fire hazard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Resistor Characteristics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right resistor for the job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vs. Real Resistors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primary selection criteria: nominal resistance value and power rating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resistors have non-ideal characteristics that vary across families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resistor good for one application can be disastrous in another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an acceptable tolerance requires understanding these non-ideal behaviours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consult the manufacturer’s data sheet for detailed specifications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Resistor Construction and Models (Fig. 3.53)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1862"/>
            <a:ext cx="8229600" cy="3968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24179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3.53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Resistor Specifications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Rating — maximum voltage the resistor can withstand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— allowable deviation from nominal value (e.g., ±1%, ±5%)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Rating — maximum power it can safely dissipate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Coefficient (TCR) — resistance change per degree of temperature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Response — how resistance changes at high frequencies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— random voltage fluctuations generated by the resistor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and Reliability — long-term drift and failure rate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 Categories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— low voltage/power coefficients, excellent stability, very low noise and reactance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Semiprecision — primarily for current-limiting or voltage-dropping; good long-term stability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— initial variation ~5%, up to ~20% under full power; higher noise; low cost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— for power supplies and control circuits; 5% stability acceptable; wirewound or film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storage, signal coupling, and filtering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Capacitor?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that stores energy in an electric field between two conductive plates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function: store charge from applied current and release it later as useful current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and discharging rate can be controlled by a series resistor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high-current discharge (photoflashes), memory backup, power supply smoothing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to control IC timing and shape waveforms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Symbols, Structure, and Analogy (Fig. 3.59)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57934"/>
            <a:ext cx="8229600" cy="2816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66572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3.59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Blocking and AC Coupling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capacitor in series with a signal path blocks DC while allowing AC to pass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DC, a capacitor’s impedance is ideally infinite — no current flows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AC frequencies, impedance becomes finite and decreases with increasing frequency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couples two circuit stages without introducing unwanted DC shifts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much of a given frequency gets through — controls attenuation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and Bypassing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capacitor in parallel (to ground) acts as a decoupling capacitor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DC to continue along the path while diverting high-frequency noise to ground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Bypassing: a capacitor across a circuit element diverts unwanted frequencies around 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removing noise and ripple from supply voltages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decoupling, sensitive circuits (especially digital logic ICs) tend to misbehave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in passive/active filter networks, LC resonant circuits, and RC snubber circuits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Functions — Circuit Examples (Fig. 3.60)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5346"/>
            <a:ext cx="8229600" cy="3081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9831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 — The Fundamental Relationship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=  C × V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charge (coulombs),  C = capacitance (farads),  V = voltage (volts)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dirty="0"/>
              <a:t>When a dc voltage </a:t>
            </a:r>
            <a:r>
              <a:rPr lang="en-US" i="1" dirty="0"/>
              <a:t>V </a:t>
            </a:r>
            <a:r>
              <a:rPr lang="en-US" dirty="0"/>
              <a:t>is applied across the leads of a capacitor, one of its “plates” charges up to a value of </a:t>
            </a:r>
            <a:r>
              <a:rPr lang="en-US" i="1" dirty="0"/>
              <a:t>Q </a:t>
            </a:r>
            <a:r>
              <a:rPr lang="en-US" dirty="0"/>
              <a:t>= </a:t>
            </a:r>
            <a:r>
              <a:rPr lang="en-US" i="1" dirty="0"/>
              <a:t>CV</a:t>
            </a:r>
            <a:r>
              <a:rPr lang="en-US" dirty="0"/>
              <a:t>, while the other plate will charge up to –</a:t>
            </a:r>
            <a:r>
              <a:rPr lang="en-US" i="1" dirty="0"/>
              <a:t>Q</a:t>
            </a:r>
            <a:endParaRPr lang="en-US" sz="18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 measured in farads: 1 F = 1 C / 1 V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charged to near source voltage, no more DC current flows. The </a:t>
            </a:r>
            <a:r>
              <a:rPr lang="en-US" dirty="0"/>
              <a:t>physical separation between plates prevents this 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values range from 1 pF (10⁻¹² F) to 68,000 µF (0.068 F)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capacitance = more stored charge = longer current supply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Storage and LED On-Time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0462"/>
            <a:ext cx="8229600" cy="2871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Capacitors in Series &amp; Parallel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capacitors and their effects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Capacitors in Parallel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C_total  =  C1 + C2 + C3 + ...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Capacitances add directly — analogous to resistors in series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Intuitively: parallel capacitors increase total plate surface area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safe voltage is limited by the capacitor with the lowest rating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capacitance and voltage rating should be marked on schematics, but the voltage rating is often missing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Capacitors in Series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1/C_total  =  1/C1 + 1/C2 + 1/C3 + ...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capacitance is less than the smallest individual capacitor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like resistors in parallel (reciprocal sum)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the group must withstand a larger voltage than any single capacitor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total capacitance decreases as voltage withstand increases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Capacitors in Parallel and Series — Circuits (Fig. 3.61)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36" y="1051561"/>
            <a:ext cx="7315200" cy="3794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15493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3.61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Division Across Series Capacitors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does not divide equally — depends on capacitance values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across Cₙ:  V_n = (C_total / C_n) × V_in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capacitance → larger voltage drop (inverse of resistor behaviour)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Equalizing resistors (~100 Ω/V of supply) across each capacitor reduce uneven division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capacitors, leakage resistance may dominate the voltage division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Circuits and Reactance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and frequency-domain behaviour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Time Constant — Charging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V(t)  =  Vs x ( 1 - e^(-t/RC) 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resistance, a capacitor charges or discharges almost instantaneously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resistance produces an exponential charge/discharge rate (see Fig. 3.62)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RC  is the time constant (seconds); R in ohms, C in farads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 = τ: capacitor reaches 63.2% of supply voltage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 = 2τ: 86.5%  |  t = 3τ: 95.0%  |  t = 5τ: 99.2% (fully charged)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is exponential — practically complete at 5τ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Time Constant — Discharging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V(t)  =  Vs x e^(-t/RC)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inverse of the charging equation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 = τ: voltage dropped by 63.2% (down to 36.8% of Vs)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 = 5τ: considered fully discharged (down to 0.76% of Vs)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timing ICs, oscillators, waveform shapers, backup supplies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Circuit Behaviour (Fig. 3.62)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6162"/>
            <a:ext cx="8229600" cy="3739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12749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3.62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RC Time Constant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 kΩ resistor charges a 47 µF capacitor from a 12 V supply. Find τ and V(τ).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τ = R × C = 10,000 × 47 × 10⁻⁶ = 0.47 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V(τ) = 12 × (1 − e⁻¹) = 12 × 0.632 = 7.58 V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Time to fully charge ≈ 5τ = 5 × 0.47 = 2.35 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At 5τ, V ≈ 12 × 0.9924 = 11.91 V — practically 12 V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Reactance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  =  1 / (2πfC)  =  1 / (ωC)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stored is proportional to applied voltage and capacitance (Q = CV)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 circuits, current is proportional to voltage, capacitance, and frequency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 and frequency together produce a quantity analogous to resistance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 is capacitive reactance in ohms; f is frequency in Hz; C in farads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Reactance decreases with increasing frequency and/or capacitance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actual power is dissipated — energy stored is returned each cycle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complete cycle, average power is zero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capacitors deviate from the ideal curve due to parasitic effects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Capacitive Reactance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reactance of a 220 pF capacitor at 10 MHz.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Convert — C = 220 × 10⁻¹² F,  f = 10 × 10⁶ Hz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Xc = 1 / (2π × 10⁷ × 220 × 10⁻¹²)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Xc = 1 / (2π × 2.2 × 10⁻³) = 1 / 0.01382 ≈ 72.3 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 MHz, this small capacitor presents relatively low impedance to AC signals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Characteristics and Reactance (Fig. 3.63)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8478"/>
            <a:ext cx="8229600" cy="32552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8518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3.63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Capacitors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Parasitics, specifications, and selection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Capacitor Imperfections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capacitors contain parasitic effects that deviate from ideal behaviour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major non-ideal parameters: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(parallel resistance) — small DC current flows through the dielectric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Series Resistance (ESR) — resistive losses in leads and plates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Series Inductance (ESL) — inductive behaviour at high frequencies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 Absorption (DA) — ‘memory’ effect; voltage reappears after discharge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determines which parasitics dominate — selection depends on application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Capacitor Specifications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Working Voltage (DCWV) — maximum voltage the capacitor can withstand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Dissipation Factor (DF) — ratio of energy lost to energy stored per cycle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Factor (Q) — Q = Xc / ESR; higher Q means less loss (e.g., if a capacitor stores 1000 J and dissipates 2 J, Q = 500)</a:t>
            </a:r>
            <a:endParaRPr lang="en-US" sz="1600" dirty="0"/>
          </a:p>
          <a:p>
            <a:pPr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conversion rate is proportional to power and frequency of applied energy</a:t>
            </a:r>
            <a:endParaRPr lang="en-US" sz="1400" dirty="0"/>
          </a:p>
          <a:p>
            <a:pPr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 loss is proportional to frequency and the loss tangent of the material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Coefficient (TC) — capacitance change per degree of temperature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Resistance (IR) — resistance of the dielectric material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IRMS — maximum RMS ripple current the capacitor can handle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Capacitors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Electrolytic (Aluminum, Tantalum) — high capacitance, polarized; bulk energy storage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Ceramic (single-layer, multilayer) — small, low cost, wide frequency range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(polyester, polypropylene, polystyrene) — good stability, low loss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(silver mica) — precision, very low loss, high frequency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and Trimmer — adjustable capacitance for tuning circuits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Supercapacitors (ultracapacitors) — very high capacitance for energy storage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Other: vacuum, air core, oil-filled, and metallized film capacitors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Capacitor Labels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labeling schemes: color bands, number/letter combinations, or direct markings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may indicate capacitance, tolerance, temperature coefficient, voltage rating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Three-digit code common: first two digits significant, third is multiplier (in pF)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104 = 10 × 10⁴ pF = 100,000 pF = 100 nF = 0.1 µF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both capacitance and voltage rating before installation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Markings (Fig. 3.66)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51561"/>
            <a:ext cx="6858000" cy="37924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30123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3.66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Markings (continued)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09822"/>
            <a:ext cx="6858000" cy="35610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Markings (continued)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4_images/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174652"/>
            <a:ext cx="6858000" cy="36876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Lecture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2535</Words>
  <Application>Microsoft Office PowerPoint</Application>
  <PresentationFormat>On-screen Show (16:9)</PresentationFormat>
  <Paragraphs>339</Paragraphs>
  <Slides>54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Calibri Light</vt:lpstr>
      <vt:lpstr>Courier New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Passive Components — Resistors &amp; Capacitors</dc:title>
  <dc:subject>PptxGenJS Presentation</dc:subject>
  <dc:creator>Introduction to Electronics</dc:creator>
  <cp:lastModifiedBy>Roger Kwao Ahiadorme</cp:lastModifiedBy>
  <cp:revision>4</cp:revision>
  <dcterms:created xsi:type="dcterms:W3CDTF">2026-02-28T18:18:37Z</dcterms:created>
  <dcterms:modified xsi:type="dcterms:W3CDTF">2026-03-26T15:40:13Z</dcterms:modified>
</cp:coreProperties>
</file>